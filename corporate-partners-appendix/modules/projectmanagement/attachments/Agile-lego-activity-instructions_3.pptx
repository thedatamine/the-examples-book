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12"/>
  </p:notesMasterIdLst>
  <p:sldIdLst>
    <p:sldId id="257" r:id="rId2"/>
    <p:sldId id="271" r:id="rId3"/>
    <p:sldId id="270" r:id="rId4"/>
    <p:sldId id="268" r:id="rId5"/>
    <p:sldId id="269" r:id="rId6"/>
    <p:sldId id="267" r:id="rId7"/>
    <p:sldId id="274" r:id="rId8"/>
    <p:sldId id="263" r:id="rId9"/>
    <p:sldId id="264" r:id="rId10"/>
    <p:sldId id="259" r:id="rId11"/>
  </p:sldIdLst>
  <p:sldSz cx="12192000" cy="6858000"/>
  <p:notesSz cx="6858000" cy="9144000"/>
  <p:embeddedFontLst>
    <p:embeddedFont>
      <p:font typeface="Acumin Pro" panose="020B0504020202020204"/>
      <p:regular r:id="rId13"/>
      <p:bold r:id="rId14"/>
      <p:italic r:id="rId15"/>
      <p:boldItalic r:id="rId16"/>
    </p:embeddedFont>
    <p:embeddedFont>
      <p:font typeface="Acumin Pro ExtraCondensed" panose="020B0508020202020204"/>
      <p:regular r:id="rId17"/>
      <p:bold r:id="rId18"/>
      <p:italic r:id="rId19"/>
      <p:boldItalic r:id="rId20"/>
    </p:embeddedFont>
    <p:embeddedFont>
      <p:font typeface="Acumin Pro ExtraCondensed Smbd" panose="020B0708020202020204" pitchFamily="34" charset="77"/>
      <p:regular r:id="rId21"/>
      <p:bold r:id="rId22"/>
      <p:italic r:id="rId23"/>
      <p:boldItalic r:id="rId24"/>
    </p:embeddedFont>
    <p:embeddedFont>
      <p:font typeface="Acumin Pro Medium" panose="020B0604020202020204" pitchFamily="34" charset="77"/>
      <p:regular r:id="rId25"/>
      <p:italic r:id="rId26"/>
    </p:embeddedFont>
    <p:embeddedFont>
      <p:font typeface="Acumin Pro Semibold" panose="020B0704020202020204"/>
      <p:regular r:id="rId27"/>
      <p:bold r:id="rId28"/>
      <p:italic r:id="rId29"/>
      <p:boldItalic r:id="rId30"/>
    </p:embeddedFont>
    <p:embeddedFont>
      <p:font typeface="Acumin Pro SemiCondensed" panose="020B0506020202020204" pitchFamily="34" charset="77"/>
      <p:regular r:id="rId31"/>
      <p:bold r:id="rId32"/>
      <p:italic r:id="rId33"/>
      <p:boldItalic r:id="rId34"/>
    </p:embeddedFont>
    <p:embeddedFont>
      <p:font typeface="Franklin Gothic Medium Cond" panose="020B0606030402020204" pitchFamily="34" charset="0"/>
      <p:regular r:id="rId35"/>
    </p:embeddedFont>
    <p:embeddedFont>
      <p:font typeface="United Sans Cd Md" panose="020F0502020204030204"/>
      <p:regular r:id="rId36"/>
    </p:embeddedFont>
    <p:embeddedFont>
      <p:font typeface="United Sans Reg Medium" pitchFamily="2" charset="77"/>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4"/>
    <p:restoredTop sz="76849"/>
  </p:normalViewPr>
  <p:slideViewPr>
    <p:cSldViewPr snapToGrid="0" snapToObjects="1">
      <p:cViewPr varScale="1">
        <p:scale>
          <a:sx n="96" d="100"/>
          <a:sy n="96" d="100"/>
        </p:scale>
        <p:origin x="504" y="168"/>
      </p:cViewPr>
      <p:guideLst/>
    </p:cSldViewPr>
  </p:slid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openxmlformats.org/officeDocument/2006/relationships/viewProps" Target="viewProps.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font" Target="fonts/font2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B360D2-24CF-C546-B7EB-0F3CF9B967C4}" type="doc">
      <dgm:prSet loTypeId="urn:microsoft.com/office/officeart/2005/8/layout/hProcess4" loCatId="" qsTypeId="urn:microsoft.com/office/officeart/2005/8/quickstyle/simple1" qsCatId="simple" csTypeId="urn:microsoft.com/office/officeart/2005/8/colors/accent1_2" csCatId="accent1" phldr="1"/>
      <dgm:spPr/>
      <dgm:t>
        <a:bodyPr/>
        <a:lstStyle/>
        <a:p>
          <a:endParaRPr lang="en-US"/>
        </a:p>
      </dgm:t>
    </dgm:pt>
    <dgm:pt modelId="{6FC8C45D-EEA0-D245-BBFD-839CCD803DF0}">
      <dgm:prSet phldrT="[Text]"/>
      <dgm:spPr/>
      <dgm:t>
        <a:bodyPr/>
        <a:lstStyle/>
        <a:p>
          <a:r>
            <a:rPr lang="en-US" dirty="0"/>
            <a:t>Sprint Planning</a:t>
          </a:r>
        </a:p>
      </dgm:t>
    </dgm:pt>
    <dgm:pt modelId="{7E4D116F-1155-E449-8837-119330A48B61}" type="parTrans" cxnId="{95033D61-A142-8A47-8978-329C2A19AB7C}">
      <dgm:prSet/>
      <dgm:spPr/>
      <dgm:t>
        <a:bodyPr/>
        <a:lstStyle/>
        <a:p>
          <a:endParaRPr lang="en-US"/>
        </a:p>
      </dgm:t>
    </dgm:pt>
    <dgm:pt modelId="{BE9CD745-6CBB-DC45-9AA0-C37D427D3C8A}" type="sibTrans" cxnId="{95033D61-A142-8A47-8978-329C2A19AB7C}">
      <dgm:prSet/>
      <dgm:spPr/>
      <dgm:t>
        <a:bodyPr/>
        <a:lstStyle/>
        <a:p>
          <a:endParaRPr lang="en-US"/>
        </a:p>
      </dgm:t>
    </dgm:pt>
    <dgm:pt modelId="{ECBB36D1-33FC-B946-A4D4-841EE7DFEAF2}">
      <dgm:prSet phldrT="[Text]"/>
      <dgm:spPr/>
      <dgm:t>
        <a:bodyPr/>
        <a:lstStyle/>
        <a:p>
          <a:r>
            <a:rPr lang="en-US" dirty="0">
              <a:solidFill>
                <a:schemeClr val="accent4"/>
              </a:solidFill>
            </a:rPr>
            <a:t>Work with PO to determine work to be accomplished during the upcoming sprint</a:t>
          </a:r>
        </a:p>
      </dgm:t>
    </dgm:pt>
    <dgm:pt modelId="{C82E7110-7B0A-2941-A98F-2F90A5EF5F55}" type="parTrans" cxnId="{59C5EC98-9428-5441-9F0D-2213517EC379}">
      <dgm:prSet/>
      <dgm:spPr/>
      <dgm:t>
        <a:bodyPr/>
        <a:lstStyle/>
        <a:p>
          <a:endParaRPr lang="en-US"/>
        </a:p>
      </dgm:t>
    </dgm:pt>
    <dgm:pt modelId="{59252C45-07C9-8543-8078-13F6E48B7336}" type="sibTrans" cxnId="{59C5EC98-9428-5441-9F0D-2213517EC379}">
      <dgm:prSet/>
      <dgm:spPr/>
      <dgm:t>
        <a:bodyPr/>
        <a:lstStyle/>
        <a:p>
          <a:endParaRPr lang="en-US"/>
        </a:p>
      </dgm:t>
    </dgm:pt>
    <dgm:pt modelId="{CF61E5E2-8FE0-1748-BC13-D8981AF0F585}">
      <dgm:prSet phldrT="[Text]"/>
      <dgm:spPr/>
      <dgm:t>
        <a:bodyPr/>
        <a:lstStyle/>
        <a:p>
          <a:r>
            <a:rPr lang="en-US" dirty="0"/>
            <a:t>Sprint</a:t>
          </a:r>
        </a:p>
      </dgm:t>
    </dgm:pt>
    <dgm:pt modelId="{14078A89-FCAE-D442-8371-92611951061F}" type="parTrans" cxnId="{58D4067D-7343-D149-BBE4-97788D2AD1C8}">
      <dgm:prSet/>
      <dgm:spPr/>
      <dgm:t>
        <a:bodyPr/>
        <a:lstStyle/>
        <a:p>
          <a:endParaRPr lang="en-US"/>
        </a:p>
      </dgm:t>
    </dgm:pt>
    <dgm:pt modelId="{17761BD6-6E19-F746-9D5A-C83DAFFAD752}" type="sibTrans" cxnId="{58D4067D-7343-D149-BBE4-97788D2AD1C8}">
      <dgm:prSet/>
      <dgm:spPr/>
      <dgm:t>
        <a:bodyPr/>
        <a:lstStyle/>
        <a:p>
          <a:endParaRPr lang="en-US"/>
        </a:p>
      </dgm:t>
    </dgm:pt>
    <dgm:pt modelId="{375F3029-B004-8E4D-8D78-88F4A3B99E42}">
      <dgm:prSet phldrT="[Text]"/>
      <dgm:spPr/>
      <dgm:t>
        <a:bodyPr/>
        <a:lstStyle/>
        <a:p>
          <a:r>
            <a:rPr lang="en-US" dirty="0">
              <a:solidFill>
                <a:schemeClr val="accent4"/>
              </a:solidFill>
            </a:rPr>
            <a:t>Work time to deliver on the features identified during planning</a:t>
          </a:r>
        </a:p>
      </dgm:t>
    </dgm:pt>
    <dgm:pt modelId="{54891C6F-39A6-FB4D-B838-FC66BBF2DFEA}" type="parTrans" cxnId="{6BA2F846-ABD5-F04F-9DA6-EC7F1D595257}">
      <dgm:prSet/>
      <dgm:spPr/>
      <dgm:t>
        <a:bodyPr/>
        <a:lstStyle/>
        <a:p>
          <a:endParaRPr lang="en-US"/>
        </a:p>
      </dgm:t>
    </dgm:pt>
    <dgm:pt modelId="{98CFF447-C411-8941-8239-B36858785D73}" type="sibTrans" cxnId="{6BA2F846-ABD5-F04F-9DA6-EC7F1D595257}">
      <dgm:prSet/>
      <dgm:spPr/>
      <dgm:t>
        <a:bodyPr/>
        <a:lstStyle/>
        <a:p>
          <a:endParaRPr lang="en-US"/>
        </a:p>
      </dgm:t>
    </dgm:pt>
    <dgm:pt modelId="{EB4A2BA0-DCEA-3543-8300-FCF443B272C4}">
      <dgm:prSet phldrT="[Text]"/>
      <dgm:spPr/>
      <dgm:t>
        <a:bodyPr/>
        <a:lstStyle/>
        <a:p>
          <a:r>
            <a:rPr lang="en-US" dirty="0"/>
            <a:t>Sprint Review</a:t>
          </a:r>
        </a:p>
      </dgm:t>
    </dgm:pt>
    <dgm:pt modelId="{2BADC114-69E1-8342-96AA-7DED6CC2EB0F}" type="parTrans" cxnId="{C2F6D4E1-165F-494D-82C0-872B8FAFD41A}">
      <dgm:prSet/>
      <dgm:spPr/>
      <dgm:t>
        <a:bodyPr/>
        <a:lstStyle/>
        <a:p>
          <a:endParaRPr lang="en-US"/>
        </a:p>
      </dgm:t>
    </dgm:pt>
    <dgm:pt modelId="{A93BED82-1CBD-4942-9298-FDD25528DC01}" type="sibTrans" cxnId="{C2F6D4E1-165F-494D-82C0-872B8FAFD41A}">
      <dgm:prSet/>
      <dgm:spPr/>
      <dgm:t>
        <a:bodyPr/>
        <a:lstStyle/>
        <a:p>
          <a:endParaRPr lang="en-US"/>
        </a:p>
      </dgm:t>
    </dgm:pt>
    <dgm:pt modelId="{FA8A332C-A799-B745-8865-CAFDBF90A340}">
      <dgm:prSet phldrT="[Text]"/>
      <dgm:spPr/>
      <dgm:t>
        <a:bodyPr/>
        <a:lstStyle/>
        <a:p>
          <a:r>
            <a:rPr lang="en-US" dirty="0">
              <a:solidFill>
                <a:schemeClr val="accent4"/>
              </a:solidFill>
            </a:rPr>
            <a:t>Present work accomplished during the sprint to the PO and get feedback</a:t>
          </a:r>
        </a:p>
      </dgm:t>
    </dgm:pt>
    <dgm:pt modelId="{4E49D6D4-B183-DC4C-835C-8C11D2107B35}" type="parTrans" cxnId="{3A7745EF-EED6-C640-A5C6-CB84EB0646E1}">
      <dgm:prSet/>
      <dgm:spPr/>
      <dgm:t>
        <a:bodyPr/>
        <a:lstStyle/>
        <a:p>
          <a:endParaRPr lang="en-US"/>
        </a:p>
      </dgm:t>
    </dgm:pt>
    <dgm:pt modelId="{686A5334-3141-8540-8FA8-73700571176B}" type="sibTrans" cxnId="{3A7745EF-EED6-C640-A5C6-CB84EB0646E1}">
      <dgm:prSet/>
      <dgm:spPr/>
      <dgm:t>
        <a:bodyPr/>
        <a:lstStyle/>
        <a:p>
          <a:endParaRPr lang="en-US"/>
        </a:p>
      </dgm:t>
    </dgm:pt>
    <dgm:pt modelId="{80338F1D-0F65-8744-A79F-2800D8B15DA6}">
      <dgm:prSet phldrT="[Text]"/>
      <dgm:spPr/>
      <dgm:t>
        <a:bodyPr/>
        <a:lstStyle/>
        <a:p>
          <a:r>
            <a:rPr lang="en-US" dirty="0"/>
            <a:t>Retrospective</a:t>
          </a:r>
        </a:p>
      </dgm:t>
    </dgm:pt>
    <dgm:pt modelId="{5F32130E-3830-BC4F-BAC2-D0FFBA7C3C8E}" type="parTrans" cxnId="{EF790082-2012-964F-8787-EE03AEFE775B}">
      <dgm:prSet/>
      <dgm:spPr/>
      <dgm:t>
        <a:bodyPr/>
        <a:lstStyle/>
        <a:p>
          <a:endParaRPr lang="en-US"/>
        </a:p>
      </dgm:t>
    </dgm:pt>
    <dgm:pt modelId="{7E47236B-9316-2647-A613-649E9003B75A}" type="sibTrans" cxnId="{EF790082-2012-964F-8787-EE03AEFE775B}">
      <dgm:prSet/>
      <dgm:spPr/>
      <dgm:t>
        <a:bodyPr/>
        <a:lstStyle/>
        <a:p>
          <a:endParaRPr lang="en-US"/>
        </a:p>
      </dgm:t>
    </dgm:pt>
    <dgm:pt modelId="{6D86A2EF-23C5-7D49-A8F3-9916F46EF18A}">
      <dgm:prSet phldrT="[Text]"/>
      <dgm:spPr/>
      <dgm:t>
        <a:bodyPr/>
        <a:lstStyle/>
        <a:p>
          <a:r>
            <a:rPr lang="en-US" dirty="0">
              <a:solidFill>
                <a:schemeClr val="accent4"/>
              </a:solidFill>
            </a:rPr>
            <a:t>Review backlog</a:t>
          </a:r>
        </a:p>
      </dgm:t>
    </dgm:pt>
    <dgm:pt modelId="{2F6324F1-881D-B945-AC3D-FF796FBF2EB6}" type="parTrans" cxnId="{C4BBF130-C11A-854F-A827-D867E12EDEE6}">
      <dgm:prSet/>
      <dgm:spPr/>
      <dgm:t>
        <a:bodyPr/>
        <a:lstStyle/>
        <a:p>
          <a:endParaRPr lang="en-US"/>
        </a:p>
      </dgm:t>
    </dgm:pt>
    <dgm:pt modelId="{97E205B2-B563-104B-AFC0-6DE169E2E86D}" type="sibTrans" cxnId="{C4BBF130-C11A-854F-A827-D867E12EDEE6}">
      <dgm:prSet/>
      <dgm:spPr/>
      <dgm:t>
        <a:bodyPr/>
        <a:lstStyle/>
        <a:p>
          <a:endParaRPr lang="en-US"/>
        </a:p>
      </dgm:t>
    </dgm:pt>
    <dgm:pt modelId="{D265DE82-85ED-9945-A6E5-FC3EEA474BA3}">
      <dgm:prSet phldrT="[Text]"/>
      <dgm:spPr/>
      <dgm:t>
        <a:bodyPr/>
        <a:lstStyle/>
        <a:p>
          <a:r>
            <a:rPr lang="en-US" dirty="0">
              <a:solidFill>
                <a:schemeClr val="accent4"/>
              </a:solidFill>
            </a:rPr>
            <a:t>Review how the sprint went and how things can be improved in the future</a:t>
          </a:r>
        </a:p>
      </dgm:t>
    </dgm:pt>
    <dgm:pt modelId="{D4D412C6-FBF9-BE47-AEF7-34B5D204AE13}" type="parTrans" cxnId="{F2F7F53A-BF94-5343-8626-B69F65AF12C0}">
      <dgm:prSet/>
      <dgm:spPr/>
      <dgm:t>
        <a:bodyPr/>
        <a:lstStyle/>
        <a:p>
          <a:endParaRPr lang="en-US"/>
        </a:p>
      </dgm:t>
    </dgm:pt>
    <dgm:pt modelId="{D5991B55-2C5A-D542-8BFD-4A2E739EEA13}" type="sibTrans" cxnId="{F2F7F53A-BF94-5343-8626-B69F65AF12C0}">
      <dgm:prSet/>
      <dgm:spPr/>
      <dgm:t>
        <a:bodyPr/>
        <a:lstStyle/>
        <a:p>
          <a:endParaRPr lang="en-US"/>
        </a:p>
      </dgm:t>
    </dgm:pt>
    <dgm:pt modelId="{26AB16CE-17EA-5C44-AE34-A44A0239860D}" type="pres">
      <dgm:prSet presAssocID="{6CB360D2-24CF-C546-B7EB-0F3CF9B967C4}" presName="Name0" presStyleCnt="0">
        <dgm:presLayoutVars>
          <dgm:dir/>
          <dgm:animLvl val="lvl"/>
          <dgm:resizeHandles val="exact"/>
        </dgm:presLayoutVars>
      </dgm:prSet>
      <dgm:spPr/>
    </dgm:pt>
    <dgm:pt modelId="{4EBF0B68-84A3-EE44-9708-20F4D9B2E9C6}" type="pres">
      <dgm:prSet presAssocID="{6CB360D2-24CF-C546-B7EB-0F3CF9B967C4}" presName="tSp" presStyleCnt="0"/>
      <dgm:spPr/>
    </dgm:pt>
    <dgm:pt modelId="{33B77D1B-D5B0-0346-A69A-ADF306DD4DE4}" type="pres">
      <dgm:prSet presAssocID="{6CB360D2-24CF-C546-B7EB-0F3CF9B967C4}" presName="bSp" presStyleCnt="0"/>
      <dgm:spPr/>
    </dgm:pt>
    <dgm:pt modelId="{781A350D-4A72-C947-AEF4-E665AB6EE087}" type="pres">
      <dgm:prSet presAssocID="{6CB360D2-24CF-C546-B7EB-0F3CF9B967C4}" presName="process" presStyleCnt="0"/>
      <dgm:spPr/>
    </dgm:pt>
    <dgm:pt modelId="{1ABAEAC6-0596-724A-B172-A41F2A1F3A9C}" type="pres">
      <dgm:prSet presAssocID="{6FC8C45D-EEA0-D245-BBFD-839CCD803DF0}" presName="composite1" presStyleCnt="0"/>
      <dgm:spPr/>
    </dgm:pt>
    <dgm:pt modelId="{EB063369-6C51-CB48-BDCF-ED59A93C8D0B}" type="pres">
      <dgm:prSet presAssocID="{6FC8C45D-EEA0-D245-BBFD-839CCD803DF0}" presName="dummyNode1" presStyleLbl="node1" presStyleIdx="0" presStyleCnt="4"/>
      <dgm:spPr/>
    </dgm:pt>
    <dgm:pt modelId="{456F1280-46A2-1A46-A6E8-3AD295DCF4E1}" type="pres">
      <dgm:prSet presAssocID="{6FC8C45D-EEA0-D245-BBFD-839CCD803DF0}" presName="childNode1" presStyleLbl="bgAcc1" presStyleIdx="0" presStyleCnt="4">
        <dgm:presLayoutVars>
          <dgm:bulletEnabled val="1"/>
        </dgm:presLayoutVars>
      </dgm:prSet>
      <dgm:spPr/>
    </dgm:pt>
    <dgm:pt modelId="{80EB64E8-304F-6A4B-8EF0-CEDD9588399C}" type="pres">
      <dgm:prSet presAssocID="{6FC8C45D-EEA0-D245-BBFD-839CCD803DF0}" presName="childNode1tx" presStyleLbl="bgAcc1" presStyleIdx="0" presStyleCnt="4">
        <dgm:presLayoutVars>
          <dgm:bulletEnabled val="1"/>
        </dgm:presLayoutVars>
      </dgm:prSet>
      <dgm:spPr/>
    </dgm:pt>
    <dgm:pt modelId="{9D3FD5B5-1CEA-7442-8030-91A0C74CC6D3}" type="pres">
      <dgm:prSet presAssocID="{6FC8C45D-EEA0-D245-BBFD-839CCD803DF0}" presName="parentNode1" presStyleLbl="node1" presStyleIdx="0" presStyleCnt="4">
        <dgm:presLayoutVars>
          <dgm:chMax val="1"/>
          <dgm:bulletEnabled val="1"/>
        </dgm:presLayoutVars>
      </dgm:prSet>
      <dgm:spPr/>
    </dgm:pt>
    <dgm:pt modelId="{D3498DA3-7218-6542-9FA8-8705AE3A8361}" type="pres">
      <dgm:prSet presAssocID="{6FC8C45D-EEA0-D245-BBFD-839CCD803DF0}" presName="connSite1" presStyleCnt="0"/>
      <dgm:spPr/>
    </dgm:pt>
    <dgm:pt modelId="{84FBA98F-CAB6-084A-B525-4A2E154188A9}" type="pres">
      <dgm:prSet presAssocID="{BE9CD745-6CBB-DC45-9AA0-C37D427D3C8A}" presName="Name9" presStyleLbl="sibTrans2D1" presStyleIdx="0" presStyleCnt="3"/>
      <dgm:spPr/>
    </dgm:pt>
    <dgm:pt modelId="{47351E80-EB8B-124B-95B1-77B3F9E85609}" type="pres">
      <dgm:prSet presAssocID="{CF61E5E2-8FE0-1748-BC13-D8981AF0F585}" presName="composite2" presStyleCnt="0"/>
      <dgm:spPr/>
    </dgm:pt>
    <dgm:pt modelId="{C2157AB6-3D2C-9146-8EE9-D5EB54D4A090}" type="pres">
      <dgm:prSet presAssocID="{CF61E5E2-8FE0-1748-BC13-D8981AF0F585}" presName="dummyNode2" presStyleLbl="node1" presStyleIdx="0" presStyleCnt="4"/>
      <dgm:spPr/>
    </dgm:pt>
    <dgm:pt modelId="{120E71B2-2F42-A64C-B890-6BDB7BD31743}" type="pres">
      <dgm:prSet presAssocID="{CF61E5E2-8FE0-1748-BC13-D8981AF0F585}" presName="childNode2" presStyleLbl="bgAcc1" presStyleIdx="1" presStyleCnt="4">
        <dgm:presLayoutVars>
          <dgm:bulletEnabled val="1"/>
        </dgm:presLayoutVars>
      </dgm:prSet>
      <dgm:spPr/>
    </dgm:pt>
    <dgm:pt modelId="{44E286E9-C36D-E841-97D3-07ABBA546129}" type="pres">
      <dgm:prSet presAssocID="{CF61E5E2-8FE0-1748-BC13-D8981AF0F585}" presName="childNode2tx" presStyleLbl="bgAcc1" presStyleIdx="1" presStyleCnt="4">
        <dgm:presLayoutVars>
          <dgm:bulletEnabled val="1"/>
        </dgm:presLayoutVars>
      </dgm:prSet>
      <dgm:spPr/>
    </dgm:pt>
    <dgm:pt modelId="{7C3A89C9-2494-4544-954E-15023302FEF0}" type="pres">
      <dgm:prSet presAssocID="{CF61E5E2-8FE0-1748-BC13-D8981AF0F585}" presName="parentNode2" presStyleLbl="node1" presStyleIdx="1" presStyleCnt="4">
        <dgm:presLayoutVars>
          <dgm:chMax val="0"/>
          <dgm:bulletEnabled val="1"/>
        </dgm:presLayoutVars>
      </dgm:prSet>
      <dgm:spPr/>
    </dgm:pt>
    <dgm:pt modelId="{1E1386FA-B28A-8840-B58E-A1B0DA6407DA}" type="pres">
      <dgm:prSet presAssocID="{CF61E5E2-8FE0-1748-BC13-D8981AF0F585}" presName="connSite2" presStyleCnt="0"/>
      <dgm:spPr/>
    </dgm:pt>
    <dgm:pt modelId="{9B0CE894-33BA-174D-9FEF-7A0F6685AD8F}" type="pres">
      <dgm:prSet presAssocID="{17761BD6-6E19-F746-9D5A-C83DAFFAD752}" presName="Name18" presStyleLbl="sibTrans2D1" presStyleIdx="1" presStyleCnt="3"/>
      <dgm:spPr/>
    </dgm:pt>
    <dgm:pt modelId="{376E612A-861E-5D48-B3C1-7D1357D6B94E}" type="pres">
      <dgm:prSet presAssocID="{EB4A2BA0-DCEA-3543-8300-FCF443B272C4}" presName="composite1" presStyleCnt="0"/>
      <dgm:spPr/>
    </dgm:pt>
    <dgm:pt modelId="{2D9DC9F0-BE42-8E4F-8F5E-B40C30286FD2}" type="pres">
      <dgm:prSet presAssocID="{EB4A2BA0-DCEA-3543-8300-FCF443B272C4}" presName="dummyNode1" presStyleLbl="node1" presStyleIdx="1" presStyleCnt="4"/>
      <dgm:spPr/>
    </dgm:pt>
    <dgm:pt modelId="{63E1AC94-CA19-1A4E-8C1C-9262B79617B5}" type="pres">
      <dgm:prSet presAssocID="{EB4A2BA0-DCEA-3543-8300-FCF443B272C4}" presName="childNode1" presStyleLbl="bgAcc1" presStyleIdx="2" presStyleCnt="4">
        <dgm:presLayoutVars>
          <dgm:bulletEnabled val="1"/>
        </dgm:presLayoutVars>
      </dgm:prSet>
      <dgm:spPr/>
    </dgm:pt>
    <dgm:pt modelId="{01BFFD9E-B309-0743-943F-E922658967DF}" type="pres">
      <dgm:prSet presAssocID="{EB4A2BA0-DCEA-3543-8300-FCF443B272C4}" presName="childNode1tx" presStyleLbl="bgAcc1" presStyleIdx="2" presStyleCnt="4">
        <dgm:presLayoutVars>
          <dgm:bulletEnabled val="1"/>
        </dgm:presLayoutVars>
      </dgm:prSet>
      <dgm:spPr/>
    </dgm:pt>
    <dgm:pt modelId="{7FA93E33-3261-D741-ABF4-3666982E87D6}" type="pres">
      <dgm:prSet presAssocID="{EB4A2BA0-DCEA-3543-8300-FCF443B272C4}" presName="parentNode1" presStyleLbl="node1" presStyleIdx="2" presStyleCnt="4">
        <dgm:presLayoutVars>
          <dgm:chMax val="1"/>
          <dgm:bulletEnabled val="1"/>
        </dgm:presLayoutVars>
      </dgm:prSet>
      <dgm:spPr/>
    </dgm:pt>
    <dgm:pt modelId="{D48E5A72-29AC-924C-A1A3-BB09C263F5F9}" type="pres">
      <dgm:prSet presAssocID="{EB4A2BA0-DCEA-3543-8300-FCF443B272C4}" presName="connSite1" presStyleCnt="0"/>
      <dgm:spPr/>
    </dgm:pt>
    <dgm:pt modelId="{06653048-6CAE-6940-8092-896282E7610B}" type="pres">
      <dgm:prSet presAssocID="{A93BED82-1CBD-4942-9298-FDD25528DC01}" presName="Name9" presStyleLbl="sibTrans2D1" presStyleIdx="2" presStyleCnt="3"/>
      <dgm:spPr/>
    </dgm:pt>
    <dgm:pt modelId="{0D36CA04-7F25-8843-87A1-710DA2085127}" type="pres">
      <dgm:prSet presAssocID="{80338F1D-0F65-8744-A79F-2800D8B15DA6}" presName="composite2" presStyleCnt="0"/>
      <dgm:spPr/>
    </dgm:pt>
    <dgm:pt modelId="{0E3CD76D-A4CD-5A45-975D-27445CEA6742}" type="pres">
      <dgm:prSet presAssocID="{80338F1D-0F65-8744-A79F-2800D8B15DA6}" presName="dummyNode2" presStyleLbl="node1" presStyleIdx="2" presStyleCnt="4"/>
      <dgm:spPr/>
    </dgm:pt>
    <dgm:pt modelId="{1AC4199E-F558-1349-B24F-B439F8631BFE}" type="pres">
      <dgm:prSet presAssocID="{80338F1D-0F65-8744-A79F-2800D8B15DA6}" presName="childNode2" presStyleLbl="bgAcc1" presStyleIdx="3" presStyleCnt="4">
        <dgm:presLayoutVars>
          <dgm:bulletEnabled val="1"/>
        </dgm:presLayoutVars>
      </dgm:prSet>
      <dgm:spPr/>
    </dgm:pt>
    <dgm:pt modelId="{6593D7CA-B624-704C-8F49-5ED2428129DA}" type="pres">
      <dgm:prSet presAssocID="{80338F1D-0F65-8744-A79F-2800D8B15DA6}" presName="childNode2tx" presStyleLbl="bgAcc1" presStyleIdx="3" presStyleCnt="4">
        <dgm:presLayoutVars>
          <dgm:bulletEnabled val="1"/>
        </dgm:presLayoutVars>
      </dgm:prSet>
      <dgm:spPr/>
    </dgm:pt>
    <dgm:pt modelId="{21B22B00-6100-724A-9F66-A79B8DE5633C}" type="pres">
      <dgm:prSet presAssocID="{80338F1D-0F65-8744-A79F-2800D8B15DA6}" presName="parentNode2" presStyleLbl="node1" presStyleIdx="3" presStyleCnt="4">
        <dgm:presLayoutVars>
          <dgm:chMax val="0"/>
          <dgm:bulletEnabled val="1"/>
        </dgm:presLayoutVars>
      </dgm:prSet>
      <dgm:spPr/>
    </dgm:pt>
    <dgm:pt modelId="{44B3FE5B-E0BD-1E44-9C23-51405CAD88A4}" type="pres">
      <dgm:prSet presAssocID="{80338F1D-0F65-8744-A79F-2800D8B15DA6}" presName="connSite2" presStyleCnt="0"/>
      <dgm:spPr/>
    </dgm:pt>
  </dgm:ptLst>
  <dgm:cxnLst>
    <dgm:cxn modelId="{4A9C911E-C934-DD4E-AB1D-577B2629C78C}" type="presOf" srcId="{6D86A2EF-23C5-7D49-A8F3-9916F46EF18A}" destId="{456F1280-46A2-1A46-A6E8-3AD295DCF4E1}" srcOrd="0" destOrd="0" presId="urn:microsoft.com/office/officeart/2005/8/layout/hProcess4"/>
    <dgm:cxn modelId="{C4BBF130-C11A-854F-A827-D867E12EDEE6}" srcId="{6FC8C45D-EEA0-D245-BBFD-839CCD803DF0}" destId="{6D86A2EF-23C5-7D49-A8F3-9916F46EF18A}" srcOrd="0" destOrd="0" parTransId="{2F6324F1-881D-B945-AC3D-FF796FBF2EB6}" sibTransId="{97E205B2-B563-104B-AFC0-6DE169E2E86D}"/>
    <dgm:cxn modelId="{A298A835-733E-2542-92F6-FBBA9461486E}" type="presOf" srcId="{ECBB36D1-33FC-B946-A4D4-841EE7DFEAF2}" destId="{80EB64E8-304F-6A4B-8EF0-CEDD9588399C}" srcOrd="1" destOrd="1" presId="urn:microsoft.com/office/officeart/2005/8/layout/hProcess4"/>
    <dgm:cxn modelId="{3B5B2C3A-8ED6-934E-908E-384DE490EC11}" type="presOf" srcId="{FA8A332C-A799-B745-8865-CAFDBF90A340}" destId="{01BFFD9E-B309-0743-943F-E922658967DF}" srcOrd="1" destOrd="0" presId="urn:microsoft.com/office/officeart/2005/8/layout/hProcess4"/>
    <dgm:cxn modelId="{F2F7F53A-BF94-5343-8626-B69F65AF12C0}" srcId="{80338F1D-0F65-8744-A79F-2800D8B15DA6}" destId="{D265DE82-85ED-9945-A6E5-FC3EEA474BA3}" srcOrd="0" destOrd="0" parTransId="{D4D412C6-FBF9-BE47-AEF7-34B5D204AE13}" sibTransId="{D5991B55-2C5A-D542-8BFD-4A2E739EEA13}"/>
    <dgm:cxn modelId="{3CF75E43-78C7-CB4A-ABBD-9EEC13F3BCBF}" type="presOf" srcId="{FA8A332C-A799-B745-8865-CAFDBF90A340}" destId="{63E1AC94-CA19-1A4E-8C1C-9262B79617B5}" srcOrd="0" destOrd="0" presId="urn:microsoft.com/office/officeart/2005/8/layout/hProcess4"/>
    <dgm:cxn modelId="{A0639F43-3C47-2640-AEEC-0DFFF41E933D}" type="presOf" srcId="{6CB360D2-24CF-C546-B7EB-0F3CF9B967C4}" destId="{26AB16CE-17EA-5C44-AE34-A44A0239860D}" srcOrd="0" destOrd="0" presId="urn:microsoft.com/office/officeart/2005/8/layout/hProcess4"/>
    <dgm:cxn modelId="{6BA2F846-ABD5-F04F-9DA6-EC7F1D595257}" srcId="{CF61E5E2-8FE0-1748-BC13-D8981AF0F585}" destId="{375F3029-B004-8E4D-8D78-88F4A3B99E42}" srcOrd="0" destOrd="0" parTransId="{54891C6F-39A6-FB4D-B838-FC66BBF2DFEA}" sibTransId="{98CFF447-C411-8941-8239-B36858785D73}"/>
    <dgm:cxn modelId="{95033D61-A142-8A47-8978-329C2A19AB7C}" srcId="{6CB360D2-24CF-C546-B7EB-0F3CF9B967C4}" destId="{6FC8C45D-EEA0-D245-BBFD-839CCD803DF0}" srcOrd="0" destOrd="0" parTransId="{7E4D116F-1155-E449-8837-119330A48B61}" sibTransId="{BE9CD745-6CBB-DC45-9AA0-C37D427D3C8A}"/>
    <dgm:cxn modelId="{58D4067D-7343-D149-BBE4-97788D2AD1C8}" srcId="{6CB360D2-24CF-C546-B7EB-0F3CF9B967C4}" destId="{CF61E5E2-8FE0-1748-BC13-D8981AF0F585}" srcOrd="1" destOrd="0" parTransId="{14078A89-FCAE-D442-8371-92611951061F}" sibTransId="{17761BD6-6E19-F746-9D5A-C83DAFFAD752}"/>
    <dgm:cxn modelId="{EF790082-2012-964F-8787-EE03AEFE775B}" srcId="{6CB360D2-24CF-C546-B7EB-0F3CF9B967C4}" destId="{80338F1D-0F65-8744-A79F-2800D8B15DA6}" srcOrd="3" destOrd="0" parTransId="{5F32130E-3830-BC4F-BAC2-D0FFBA7C3C8E}" sibTransId="{7E47236B-9316-2647-A613-649E9003B75A}"/>
    <dgm:cxn modelId="{976F7B83-1FAB-2A44-BAE3-37E158A08598}" type="presOf" srcId="{375F3029-B004-8E4D-8D78-88F4A3B99E42}" destId="{120E71B2-2F42-A64C-B890-6BDB7BD31743}" srcOrd="0" destOrd="0" presId="urn:microsoft.com/office/officeart/2005/8/layout/hProcess4"/>
    <dgm:cxn modelId="{0B4D7286-128D-3540-AE38-FC0377CB86EE}" type="presOf" srcId="{ECBB36D1-33FC-B946-A4D4-841EE7DFEAF2}" destId="{456F1280-46A2-1A46-A6E8-3AD295DCF4E1}" srcOrd="0" destOrd="1" presId="urn:microsoft.com/office/officeart/2005/8/layout/hProcess4"/>
    <dgm:cxn modelId="{FC200798-F86F-CC4C-A8BA-02C740BEA10A}" type="presOf" srcId="{80338F1D-0F65-8744-A79F-2800D8B15DA6}" destId="{21B22B00-6100-724A-9F66-A79B8DE5633C}" srcOrd="0" destOrd="0" presId="urn:microsoft.com/office/officeart/2005/8/layout/hProcess4"/>
    <dgm:cxn modelId="{7FFC7298-8947-6B4B-AE38-6D14A8A62BF1}" type="presOf" srcId="{D265DE82-85ED-9945-A6E5-FC3EEA474BA3}" destId="{6593D7CA-B624-704C-8F49-5ED2428129DA}" srcOrd="1" destOrd="0" presId="urn:microsoft.com/office/officeart/2005/8/layout/hProcess4"/>
    <dgm:cxn modelId="{59C5EC98-9428-5441-9F0D-2213517EC379}" srcId="{6FC8C45D-EEA0-D245-BBFD-839CCD803DF0}" destId="{ECBB36D1-33FC-B946-A4D4-841EE7DFEAF2}" srcOrd="1" destOrd="0" parTransId="{C82E7110-7B0A-2941-A98F-2F90A5EF5F55}" sibTransId="{59252C45-07C9-8543-8078-13F6E48B7336}"/>
    <dgm:cxn modelId="{5013609A-82C6-E742-A43B-5C9F329E4192}" type="presOf" srcId="{17761BD6-6E19-F746-9D5A-C83DAFFAD752}" destId="{9B0CE894-33BA-174D-9FEF-7A0F6685AD8F}" srcOrd="0" destOrd="0" presId="urn:microsoft.com/office/officeart/2005/8/layout/hProcess4"/>
    <dgm:cxn modelId="{DCB37FA9-A6D1-EA4F-945C-F7B3FEECD8CE}" type="presOf" srcId="{EB4A2BA0-DCEA-3543-8300-FCF443B272C4}" destId="{7FA93E33-3261-D741-ABF4-3666982E87D6}" srcOrd="0" destOrd="0" presId="urn:microsoft.com/office/officeart/2005/8/layout/hProcess4"/>
    <dgm:cxn modelId="{B801EFA9-919B-494E-9C47-57BC77FE37F1}" type="presOf" srcId="{BE9CD745-6CBB-DC45-9AA0-C37D427D3C8A}" destId="{84FBA98F-CAB6-084A-B525-4A2E154188A9}" srcOrd="0" destOrd="0" presId="urn:microsoft.com/office/officeart/2005/8/layout/hProcess4"/>
    <dgm:cxn modelId="{8E2F71B8-C766-0247-8F08-6E38C0A9FF23}" type="presOf" srcId="{375F3029-B004-8E4D-8D78-88F4A3B99E42}" destId="{44E286E9-C36D-E841-97D3-07ABBA546129}" srcOrd="1" destOrd="0" presId="urn:microsoft.com/office/officeart/2005/8/layout/hProcess4"/>
    <dgm:cxn modelId="{CCC393C6-DB9C-304C-BCB1-43469EFE7817}" type="presOf" srcId="{6D86A2EF-23C5-7D49-A8F3-9916F46EF18A}" destId="{80EB64E8-304F-6A4B-8EF0-CEDD9588399C}" srcOrd="1" destOrd="0" presId="urn:microsoft.com/office/officeart/2005/8/layout/hProcess4"/>
    <dgm:cxn modelId="{0F0732C9-8061-6B49-AFD6-E0431931DB40}" type="presOf" srcId="{CF61E5E2-8FE0-1748-BC13-D8981AF0F585}" destId="{7C3A89C9-2494-4544-954E-15023302FEF0}" srcOrd="0" destOrd="0" presId="urn:microsoft.com/office/officeart/2005/8/layout/hProcess4"/>
    <dgm:cxn modelId="{876CD9D8-0C53-0F4E-81A6-7D9DC3B19222}" type="presOf" srcId="{A93BED82-1CBD-4942-9298-FDD25528DC01}" destId="{06653048-6CAE-6940-8092-896282E7610B}" srcOrd="0" destOrd="0" presId="urn:microsoft.com/office/officeart/2005/8/layout/hProcess4"/>
    <dgm:cxn modelId="{C2F6D4E1-165F-494D-82C0-872B8FAFD41A}" srcId="{6CB360D2-24CF-C546-B7EB-0F3CF9B967C4}" destId="{EB4A2BA0-DCEA-3543-8300-FCF443B272C4}" srcOrd="2" destOrd="0" parTransId="{2BADC114-69E1-8342-96AA-7DED6CC2EB0F}" sibTransId="{A93BED82-1CBD-4942-9298-FDD25528DC01}"/>
    <dgm:cxn modelId="{3A7745EF-EED6-C640-A5C6-CB84EB0646E1}" srcId="{EB4A2BA0-DCEA-3543-8300-FCF443B272C4}" destId="{FA8A332C-A799-B745-8865-CAFDBF90A340}" srcOrd="0" destOrd="0" parTransId="{4E49D6D4-B183-DC4C-835C-8C11D2107B35}" sibTransId="{686A5334-3141-8540-8FA8-73700571176B}"/>
    <dgm:cxn modelId="{892A14F1-12D6-A744-BCBB-624AA88293CE}" type="presOf" srcId="{D265DE82-85ED-9945-A6E5-FC3EEA474BA3}" destId="{1AC4199E-F558-1349-B24F-B439F8631BFE}" srcOrd="0" destOrd="0" presId="urn:microsoft.com/office/officeart/2005/8/layout/hProcess4"/>
    <dgm:cxn modelId="{30C87FFC-F009-6149-B955-BEA0691FD991}" type="presOf" srcId="{6FC8C45D-EEA0-D245-BBFD-839CCD803DF0}" destId="{9D3FD5B5-1CEA-7442-8030-91A0C74CC6D3}" srcOrd="0" destOrd="0" presId="urn:microsoft.com/office/officeart/2005/8/layout/hProcess4"/>
    <dgm:cxn modelId="{94F6E06C-EB6A-BC4A-AAE5-13AE63779626}" type="presParOf" srcId="{26AB16CE-17EA-5C44-AE34-A44A0239860D}" destId="{4EBF0B68-84A3-EE44-9708-20F4D9B2E9C6}" srcOrd="0" destOrd="0" presId="urn:microsoft.com/office/officeart/2005/8/layout/hProcess4"/>
    <dgm:cxn modelId="{8186FE1E-ADB9-5E45-9B87-FB6B3968E13F}" type="presParOf" srcId="{26AB16CE-17EA-5C44-AE34-A44A0239860D}" destId="{33B77D1B-D5B0-0346-A69A-ADF306DD4DE4}" srcOrd="1" destOrd="0" presId="urn:microsoft.com/office/officeart/2005/8/layout/hProcess4"/>
    <dgm:cxn modelId="{7EEC27C7-9248-CF43-8CFB-4E4706B498B0}" type="presParOf" srcId="{26AB16CE-17EA-5C44-AE34-A44A0239860D}" destId="{781A350D-4A72-C947-AEF4-E665AB6EE087}" srcOrd="2" destOrd="0" presId="urn:microsoft.com/office/officeart/2005/8/layout/hProcess4"/>
    <dgm:cxn modelId="{C26E7FAC-F31C-4643-A129-C8C9A2ADAEB9}" type="presParOf" srcId="{781A350D-4A72-C947-AEF4-E665AB6EE087}" destId="{1ABAEAC6-0596-724A-B172-A41F2A1F3A9C}" srcOrd="0" destOrd="0" presId="urn:microsoft.com/office/officeart/2005/8/layout/hProcess4"/>
    <dgm:cxn modelId="{47BF7970-00E2-0A49-9589-5BF76E8F5315}" type="presParOf" srcId="{1ABAEAC6-0596-724A-B172-A41F2A1F3A9C}" destId="{EB063369-6C51-CB48-BDCF-ED59A93C8D0B}" srcOrd="0" destOrd="0" presId="urn:microsoft.com/office/officeart/2005/8/layout/hProcess4"/>
    <dgm:cxn modelId="{E4818223-7BCA-4049-B6DF-BBB1B361AE42}" type="presParOf" srcId="{1ABAEAC6-0596-724A-B172-A41F2A1F3A9C}" destId="{456F1280-46A2-1A46-A6E8-3AD295DCF4E1}" srcOrd="1" destOrd="0" presId="urn:microsoft.com/office/officeart/2005/8/layout/hProcess4"/>
    <dgm:cxn modelId="{953B3D2C-487B-CC48-A1F8-A57C28B52222}" type="presParOf" srcId="{1ABAEAC6-0596-724A-B172-A41F2A1F3A9C}" destId="{80EB64E8-304F-6A4B-8EF0-CEDD9588399C}" srcOrd="2" destOrd="0" presId="urn:microsoft.com/office/officeart/2005/8/layout/hProcess4"/>
    <dgm:cxn modelId="{55DD6981-7D13-CC40-973B-0B5D58F373DA}" type="presParOf" srcId="{1ABAEAC6-0596-724A-B172-A41F2A1F3A9C}" destId="{9D3FD5B5-1CEA-7442-8030-91A0C74CC6D3}" srcOrd="3" destOrd="0" presId="urn:microsoft.com/office/officeart/2005/8/layout/hProcess4"/>
    <dgm:cxn modelId="{9D1FAD3B-2085-1E4E-850E-C493471129E7}" type="presParOf" srcId="{1ABAEAC6-0596-724A-B172-A41F2A1F3A9C}" destId="{D3498DA3-7218-6542-9FA8-8705AE3A8361}" srcOrd="4" destOrd="0" presId="urn:microsoft.com/office/officeart/2005/8/layout/hProcess4"/>
    <dgm:cxn modelId="{F89FEB54-AF65-DC43-BC46-9BB186AB9427}" type="presParOf" srcId="{781A350D-4A72-C947-AEF4-E665AB6EE087}" destId="{84FBA98F-CAB6-084A-B525-4A2E154188A9}" srcOrd="1" destOrd="0" presId="urn:microsoft.com/office/officeart/2005/8/layout/hProcess4"/>
    <dgm:cxn modelId="{61972746-E93F-B144-A260-A95E7E70E08D}" type="presParOf" srcId="{781A350D-4A72-C947-AEF4-E665AB6EE087}" destId="{47351E80-EB8B-124B-95B1-77B3F9E85609}" srcOrd="2" destOrd="0" presId="urn:microsoft.com/office/officeart/2005/8/layout/hProcess4"/>
    <dgm:cxn modelId="{3F4D4073-39C3-8346-8146-7C77E6903DFA}" type="presParOf" srcId="{47351E80-EB8B-124B-95B1-77B3F9E85609}" destId="{C2157AB6-3D2C-9146-8EE9-D5EB54D4A090}" srcOrd="0" destOrd="0" presId="urn:microsoft.com/office/officeart/2005/8/layout/hProcess4"/>
    <dgm:cxn modelId="{76258E0A-2DB1-D648-A0FC-2E12941C8D32}" type="presParOf" srcId="{47351E80-EB8B-124B-95B1-77B3F9E85609}" destId="{120E71B2-2F42-A64C-B890-6BDB7BD31743}" srcOrd="1" destOrd="0" presId="urn:microsoft.com/office/officeart/2005/8/layout/hProcess4"/>
    <dgm:cxn modelId="{BFC5E315-401F-7D49-A50A-21615982473C}" type="presParOf" srcId="{47351E80-EB8B-124B-95B1-77B3F9E85609}" destId="{44E286E9-C36D-E841-97D3-07ABBA546129}" srcOrd="2" destOrd="0" presId="urn:microsoft.com/office/officeart/2005/8/layout/hProcess4"/>
    <dgm:cxn modelId="{67216775-9443-B74C-96CA-EEC59B00DE5A}" type="presParOf" srcId="{47351E80-EB8B-124B-95B1-77B3F9E85609}" destId="{7C3A89C9-2494-4544-954E-15023302FEF0}" srcOrd="3" destOrd="0" presId="urn:microsoft.com/office/officeart/2005/8/layout/hProcess4"/>
    <dgm:cxn modelId="{EB0C35F1-64F3-424B-9776-37720E43B0EF}" type="presParOf" srcId="{47351E80-EB8B-124B-95B1-77B3F9E85609}" destId="{1E1386FA-B28A-8840-B58E-A1B0DA6407DA}" srcOrd="4" destOrd="0" presId="urn:microsoft.com/office/officeart/2005/8/layout/hProcess4"/>
    <dgm:cxn modelId="{D732E866-1995-3C43-93D9-BFFEA58A4BC6}" type="presParOf" srcId="{781A350D-4A72-C947-AEF4-E665AB6EE087}" destId="{9B0CE894-33BA-174D-9FEF-7A0F6685AD8F}" srcOrd="3" destOrd="0" presId="urn:microsoft.com/office/officeart/2005/8/layout/hProcess4"/>
    <dgm:cxn modelId="{04341746-E1FF-6D4E-A1C7-8148B8EAAC61}" type="presParOf" srcId="{781A350D-4A72-C947-AEF4-E665AB6EE087}" destId="{376E612A-861E-5D48-B3C1-7D1357D6B94E}" srcOrd="4" destOrd="0" presId="urn:microsoft.com/office/officeart/2005/8/layout/hProcess4"/>
    <dgm:cxn modelId="{9C94546F-75EB-AB47-8074-0C23EC44B409}" type="presParOf" srcId="{376E612A-861E-5D48-B3C1-7D1357D6B94E}" destId="{2D9DC9F0-BE42-8E4F-8F5E-B40C30286FD2}" srcOrd="0" destOrd="0" presId="urn:microsoft.com/office/officeart/2005/8/layout/hProcess4"/>
    <dgm:cxn modelId="{6E6D2971-453C-1245-9AD1-06B59D6D735B}" type="presParOf" srcId="{376E612A-861E-5D48-B3C1-7D1357D6B94E}" destId="{63E1AC94-CA19-1A4E-8C1C-9262B79617B5}" srcOrd="1" destOrd="0" presId="urn:microsoft.com/office/officeart/2005/8/layout/hProcess4"/>
    <dgm:cxn modelId="{D49536E4-9185-F24C-880D-AE9BFE9FB95D}" type="presParOf" srcId="{376E612A-861E-5D48-B3C1-7D1357D6B94E}" destId="{01BFFD9E-B309-0743-943F-E922658967DF}" srcOrd="2" destOrd="0" presId="urn:microsoft.com/office/officeart/2005/8/layout/hProcess4"/>
    <dgm:cxn modelId="{D37A5BA3-7832-F942-BDC8-A2DA01D076C4}" type="presParOf" srcId="{376E612A-861E-5D48-B3C1-7D1357D6B94E}" destId="{7FA93E33-3261-D741-ABF4-3666982E87D6}" srcOrd="3" destOrd="0" presId="urn:microsoft.com/office/officeart/2005/8/layout/hProcess4"/>
    <dgm:cxn modelId="{6986D3B9-2879-3C4C-B957-B7CA5800A5D4}" type="presParOf" srcId="{376E612A-861E-5D48-B3C1-7D1357D6B94E}" destId="{D48E5A72-29AC-924C-A1A3-BB09C263F5F9}" srcOrd="4" destOrd="0" presId="urn:microsoft.com/office/officeart/2005/8/layout/hProcess4"/>
    <dgm:cxn modelId="{A61CD696-45A0-6645-97C6-D4AFA9812C05}" type="presParOf" srcId="{781A350D-4A72-C947-AEF4-E665AB6EE087}" destId="{06653048-6CAE-6940-8092-896282E7610B}" srcOrd="5" destOrd="0" presId="urn:microsoft.com/office/officeart/2005/8/layout/hProcess4"/>
    <dgm:cxn modelId="{873EF0E6-07D5-0D4A-97A3-6A46A29DE5F3}" type="presParOf" srcId="{781A350D-4A72-C947-AEF4-E665AB6EE087}" destId="{0D36CA04-7F25-8843-87A1-710DA2085127}" srcOrd="6" destOrd="0" presId="urn:microsoft.com/office/officeart/2005/8/layout/hProcess4"/>
    <dgm:cxn modelId="{624D819D-CAD7-8E49-9226-D31E492E26AE}" type="presParOf" srcId="{0D36CA04-7F25-8843-87A1-710DA2085127}" destId="{0E3CD76D-A4CD-5A45-975D-27445CEA6742}" srcOrd="0" destOrd="0" presId="urn:microsoft.com/office/officeart/2005/8/layout/hProcess4"/>
    <dgm:cxn modelId="{FC331DC3-5969-4E48-8156-422D6C460984}" type="presParOf" srcId="{0D36CA04-7F25-8843-87A1-710DA2085127}" destId="{1AC4199E-F558-1349-B24F-B439F8631BFE}" srcOrd="1" destOrd="0" presId="urn:microsoft.com/office/officeart/2005/8/layout/hProcess4"/>
    <dgm:cxn modelId="{EFD76305-ABE8-D44E-9FE3-A848C783A44D}" type="presParOf" srcId="{0D36CA04-7F25-8843-87A1-710DA2085127}" destId="{6593D7CA-B624-704C-8F49-5ED2428129DA}" srcOrd="2" destOrd="0" presId="urn:microsoft.com/office/officeart/2005/8/layout/hProcess4"/>
    <dgm:cxn modelId="{0C97A5AC-2404-DE43-BD37-90E02B92FC9A}" type="presParOf" srcId="{0D36CA04-7F25-8843-87A1-710DA2085127}" destId="{21B22B00-6100-724A-9F66-A79B8DE5633C}" srcOrd="3" destOrd="0" presId="urn:microsoft.com/office/officeart/2005/8/layout/hProcess4"/>
    <dgm:cxn modelId="{DAD46ABB-8FB5-0940-A2E9-8A613C7E6B01}" type="presParOf" srcId="{0D36CA04-7F25-8843-87A1-710DA2085127}" destId="{44B3FE5B-E0BD-1E44-9C23-51405CAD88A4}"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6F1280-46A2-1A46-A6E8-3AD295DCF4E1}">
      <dsp:nvSpPr>
        <dsp:cNvPr id="0" name=""/>
        <dsp:cNvSpPr/>
      </dsp:nvSpPr>
      <dsp:spPr>
        <a:xfrm>
          <a:off x="2328" y="1816073"/>
          <a:ext cx="2166027" cy="17865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accent4"/>
              </a:solidFill>
            </a:rPr>
            <a:t>Review backlog</a:t>
          </a:r>
        </a:p>
        <a:p>
          <a:pPr marL="114300" lvl="1" indent="-114300" algn="l" defTabSz="666750">
            <a:lnSpc>
              <a:spcPct val="90000"/>
            </a:lnSpc>
            <a:spcBef>
              <a:spcPct val="0"/>
            </a:spcBef>
            <a:spcAft>
              <a:spcPct val="15000"/>
            </a:spcAft>
            <a:buChar char="•"/>
          </a:pPr>
          <a:r>
            <a:rPr lang="en-US" sz="1500" kern="1200" dirty="0">
              <a:solidFill>
                <a:schemeClr val="accent4"/>
              </a:solidFill>
            </a:rPr>
            <a:t>Work with PO to determine work to be accomplished during the upcoming sprint</a:t>
          </a:r>
        </a:p>
      </dsp:txBody>
      <dsp:txXfrm>
        <a:off x="43441" y="1857186"/>
        <a:ext cx="2083801" cy="1321468"/>
      </dsp:txXfrm>
    </dsp:sp>
    <dsp:sp modelId="{84FBA98F-CAB6-084A-B525-4A2E154188A9}">
      <dsp:nvSpPr>
        <dsp:cNvPr id="0" name=""/>
        <dsp:cNvSpPr/>
      </dsp:nvSpPr>
      <dsp:spPr>
        <a:xfrm>
          <a:off x="1219096" y="2239832"/>
          <a:ext cx="2391288" cy="2391288"/>
        </a:xfrm>
        <a:prstGeom prst="leftCircularArrow">
          <a:avLst>
            <a:gd name="adj1" fmla="val 3165"/>
            <a:gd name="adj2" fmla="val 389593"/>
            <a:gd name="adj3" fmla="val 2165103"/>
            <a:gd name="adj4" fmla="val 9024489"/>
            <a:gd name="adj5" fmla="val 369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D3FD5B5-1CEA-7442-8030-91A0C74CC6D3}">
      <dsp:nvSpPr>
        <dsp:cNvPr id="0" name=""/>
        <dsp:cNvSpPr/>
      </dsp:nvSpPr>
      <dsp:spPr>
        <a:xfrm>
          <a:off x="483667" y="3219767"/>
          <a:ext cx="1925357" cy="7656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Sprint Planning</a:t>
          </a:r>
        </a:p>
      </dsp:txBody>
      <dsp:txXfrm>
        <a:off x="506092" y="3242192"/>
        <a:ext cx="1880507" cy="720801"/>
      </dsp:txXfrm>
    </dsp:sp>
    <dsp:sp modelId="{120E71B2-2F42-A64C-B890-6BDB7BD31743}">
      <dsp:nvSpPr>
        <dsp:cNvPr id="0" name=""/>
        <dsp:cNvSpPr/>
      </dsp:nvSpPr>
      <dsp:spPr>
        <a:xfrm>
          <a:off x="2769426" y="1816073"/>
          <a:ext cx="2166027" cy="17865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accent4"/>
              </a:solidFill>
            </a:rPr>
            <a:t>Work time to deliver on the features identified during planning</a:t>
          </a:r>
        </a:p>
      </dsp:txBody>
      <dsp:txXfrm>
        <a:off x="2810539" y="2240012"/>
        <a:ext cx="2083801" cy="1321468"/>
      </dsp:txXfrm>
    </dsp:sp>
    <dsp:sp modelId="{9B0CE894-33BA-174D-9FEF-7A0F6685AD8F}">
      <dsp:nvSpPr>
        <dsp:cNvPr id="0" name=""/>
        <dsp:cNvSpPr/>
      </dsp:nvSpPr>
      <dsp:spPr>
        <a:xfrm>
          <a:off x="3968144" y="717497"/>
          <a:ext cx="2668058" cy="2668058"/>
        </a:xfrm>
        <a:prstGeom prst="circularArrow">
          <a:avLst>
            <a:gd name="adj1" fmla="val 2837"/>
            <a:gd name="adj2" fmla="val 346493"/>
            <a:gd name="adj3" fmla="val 19477996"/>
            <a:gd name="adj4" fmla="val 12575511"/>
            <a:gd name="adj5" fmla="val 330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C3A89C9-2494-4544-954E-15023302FEF0}">
      <dsp:nvSpPr>
        <dsp:cNvPr id="0" name=""/>
        <dsp:cNvSpPr/>
      </dsp:nvSpPr>
      <dsp:spPr>
        <a:xfrm>
          <a:off x="3250766" y="1433248"/>
          <a:ext cx="1925357" cy="7656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Sprint</a:t>
          </a:r>
        </a:p>
      </dsp:txBody>
      <dsp:txXfrm>
        <a:off x="3273191" y="1455673"/>
        <a:ext cx="1880507" cy="720801"/>
      </dsp:txXfrm>
    </dsp:sp>
    <dsp:sp modelId="{63E1AC94-CA19-1A4E-8C1C-9262B79617B5}">
      <dsp:nvSpPr>
        <dsp:cNvPr id="0" name=""/>
        <dsp:cNvSpPr/>
      </dsp:nvSpPr>
      <dsp:spPr>
        <a:xfrm>
          <a:off x="5536525" y="1816073"/>
          <a:ext cx="2166027" cy="17865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accent4"/>
              </a:solidFill>
            </a:rPr>
            <a:t>Present work accomplished during the sprint to the PO and get feedback</a:t>
          </a:r>
        </a:p>
      </dsp:txBody>
      <dsp:txXfrm>
        <a:off x="5577638" y="1857186"/>
        <a:ext cx="2083801" cy="1321468"/>
      </dsp:txXfrm>
    </dsp:sp>
    <dsp:sp modelId="{06653048-6CAE-6940-8092-896282E7610B}">
      <dsp:nvSpPr>
        <dsp:cNvPr id="0" name=""/>
        <dsp:cNvSpPr/>
      </dsp:nvSpPr>
      <dsp:spPr>
        <a:xfrm>
          <a:off x="6753293" y="2239832"/>
          <a:ext cx="2391288" cy="2391288"/>
        </a:xfrm>
        <a:prstGeom prst="leftCircularArrow">
          <a:avLst>
            <a:gd name="adj1" fmla="val 3165"/>
            <a:gd name="adj2" fmla="val 389593"/>
            <a:gd name="adj3" fmla="val 2165103"/>
            <a:gd name="adj4" fmla="val 9024489"/>
            <a:gd name="adj5" fmla="val 369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FA93E33-3261-D741-ABF4-3666982E87D6}">
      <dsp:nvSpPr>
        <dsp:cNvPr id="0" name=""/>
        <dsp:cNvSpPr/>
      </dsp:nvSpPr>
      <dsp:spPr>
        <a:xfrm>
          <a:off x="6017864" y="3219767"/>
          <a:ext cx="1925357" cy="7656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Sprint Review</a:t>
          </a:r>
        </a:p>
      </dsp:txBody>
      <dsp:txXfrm>
        <a:off x="6040289" y="3242192"/>
        <a:ext cx="1880507" cy="720801"/>
      </dsp:txXfrm>
    </dsp:sp>
    <dsp:sp modelId="{1AC4199E-F558-1349-B24F-B439F8631BFE}">
      <dsp:nvSpPr>
        <dsp:cNvPr id="0" name=""/>
        <dsp:cNvSpPr/>
      </dsp:nvSpPr>
      <dsp:spPr>
        <a:xfrm>
          <a:off x="8303623" y="1816073"/>
          <a:ext cx="2166027" cy="178651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accent4"/>
              </a:solidFill>
            </a:rPr>
            <a:t>Review how the sprint went and how things can be improved in the future</a:t>
          </a:r>
        </a:p>
      </dsp:txBody>
      <dsp:txXfrm>
        <a:off x="8344736" y="2240012"/>
        <a:ext cx="2083801" cy="1321468"/>
      </dsp:txXfrm>
    </dsp:sp>
    <dsp:sp modelId="{21B22B00-6100-724A-9F66-A79B8DE5633C}">
      <dsp:nvSpPr>
        <dsp:cNvPr id="0" name=""/>
        <dsp:cNvSpPr/>
      </dsp:nvSpPr>
      <dsp:spPr>
        <a:xfrm>
          <a:off x="8784962" y="1433248"/>
          <a:ext cx="1925357" cy="7656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Retrospective</a:t>
          </a:r>
        </a:p>
      </dsp:txBody>
      <dsp:txXfrm>
        <a:off x="8807387" y="1455673"/>
        <a:ext cx="1880507" cy="72080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EA0334-FF66-B74C-AA2D-F4F5B095E899}" type="datetimeFigureOut">
              <a:rPr lang="en-US" smtClean="0"/>
              <a:t>8/17/26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A1F1F-A012-954E-8425-0CEB16787C0A}" type="slidenum">
              <a:rPr lang="en-US" smtClean="0"/>
              <a:t>‹#›</a:t>
            </a:fld>
            <a:endParaRPr lang="en-US"/>
          </a:p>
        </p:txBody>
      </p:sp>
    </p:spTree>
    <p:extLst>
      <p:ext uri="{BB962C8B-B14F-4D97-AF65-F5344CB8AC3E}">
        <p14:creationId xmlns:p14="http://schemas.microsoft.com/office/powerpoint/2010/main" val="116832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methodology is a project management approach that focuses on flexibility, collaboration, and continuous improvement. Instead of completing a project all at once, work is divided into smaller phases called sprints, allowing teams to regularly evaluate progress, gather feedback, and make adjustments as needed. Agile encourages frequent communication among team members and stakeholders, helping organizations respond more quickly to changing needs while delivering results more efficiently.</a:t>
            </a:r>
          </a:p>
        </p:txBody>
      </p:sp>
      <p:sp>
        <p:nvSpPr>
          <p:cNvPr id="4" name="Slide Number Placeholder 3"/>
          <p:cNvSpPr>
            <a:spLocks noGrp="1"/>
          </p:cNvSpPr>
          <p:nvPr>
            <p:ph type="sldNum" sz="quarter" idx="5"/>
          </p:nvPr>
        </p:nvSpPr>
        <p:spPr/>
        <p:txBody>
          <a:bodyPr/>
          <a:lstStyle/>
          <a:p>
            <a:fld id="{153A1F1F-A012-954E-8425-0CEB16787C0A}" type="slidenum">
              <a:rPr lang="en-US" smtClean="0"/>
              <a:t>2</a:t>
            </a:fld>
            <a:endParaRPr lang="en-US"/>
          </a:p>
        </p:txBody>
      </p:sp>
    </p:spTree>
    <p:extLst>
      <p:ext uri="{BB962C8B-B14F-4D97-AF65-F5344CB8AC3E}">
        <p14:creationId xmlns:p14="http://schemas.microsoft.com/office/powerpoint/2010/main" val="4157729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Product Owner:</a:t>
            </a:r>
            <a:r>
              <a:rPr lang="en-US" dirty="0"/>
              <a:t> Represents the customer and is responsible for defining the project's goals, prioritizing tasks, and ensuring the team delivers the most valuable features. </a:t>
            </a:r>
          </a:p>
          <a:p>
            <a:pPr lvl="0"/>
            <a:r>
              <a:rPr lang="en-US" b="1" dirty="0"/>
              <a:t>Scrum Master:</a:t>
            </a:r>
            <a:r>
              <a:rPr lang="en-US" dirty="0"/>
              <a:t> Serves as a facilitator and coach who helps the team follow Agile principles, removes obstacles, and supports effective communication and collaboration. </a:t>
            </a:r>
          </a:p>
          <a:p>
            <a:pPr lvl="0"/>
            <a:r>
              <a:rPr lang="en-US" b="1" dirty="0"/>
              <a:t>Developer:</a:t>
            </a:r>
            <a:r>
              <a:rPr lang="en-US" dirty="0"/>
              <a:t> Designs, builds, tests, and delivers the product. Developers work collaboratively to complete the tasks identified during each sprint and continuously improve the product.</a:t>
            </a:r>
          </a:p>
          <a:p>
            <a:endParaRPr lang="en-US" dirty="0"/>
          </a:p>
        </p:txBody>
      </p:sp>
      <p:sp>
        <p:nvSpPr>
          <p:cNvPr id="4" name="Slide Number Placeholder 3"/>
          <p:cNvSpPr>
            <a:spLocks noGrp="1"/>
          </p:cNvSpPr>
          <p:nvPr>
            <p:ph type="sldNum" sz="quarter" idx="5"/>
          </p:nvPr>
        </p:nvSpPr>
        <p:spPr/>
        <p:txBody>
          <a:bodyPr/>
          <a:lstStyle/>
          <a:p>
            <a:fld id="{153A1F1F-A012-954E-8425-0CEB16787C0A}" type="slidenum">
              <a:rPr lang="en-US" smtClean="0"/>
              <a:t>3</a:t>
            </a:fld>
            <a:endParaRPr lang="en-US"/>
          </a:p>
        </p:txBody>
      </p:sp>
    </p:spTree>
    <p:extLst>
      <p:ext uri="{BB962C8B-B14F-4D97-AF65-F5344CB8AC3E}">
        <p14:creationId xmlns:p14="http://schemas.microsoft.com/office/powerpoint/2010/main" val="3427547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sprint cycle</a:t>
            </a:r>
            <a:r>
              <a:rPr lang="en-US" dirty="0"/>
              <a:t> is a short, structured period of work (typically one to four weeks) in which an Agile team completes a set of prioritized tasks. The cycle usually follows these steps:</a:t>
            </a:r>
          </a:p>
          <a:p>
            <a:pPr lvl="0"/>
            <a:r>
              <a:rPr lang="en-US" b="1" dirty="0"/>
              <a:t>Sprint planning:</a:t>
            </a:r>
            <a:r>
              <a:rPr lang="en-US" dirty="0"/>
              <a:t> The team selects tasks from the product backlog and determines what can be completed during the sprint. </a:t>
            </a:r>
          </a:p>
          <a:p>
            <a:pPr lvl="0"/>
            <a:r>
              <a:rPr lang="en-US" b="1" dirty="0"/>
              <a:t>Daily stand-up meetings:</a:t>
            </a:r>
            <a:r>
              <a:rPr lang="en-US" dirty="0"/>
              <a:t> Team members meet briefly each day to discuss progress, upcoming work, and any obstacles. </a:t>
            </a:r>
          </a:p>
          <a:p>
            <a:pPr lvl="0"/>
            <a:r>
              <a:rPr lang="en-US" b="1" dirty="0"/>
              <a:t>Sprint execution:</a:t>
            </a:r>
            <a:r>
              <a:rPr lang="en-US" dirty="0"/>
              <a:t> Developers complete the planned work while collaborating and making adjustments as needed. </a:t>
            </a:r>
          </a:p>
          <a:p>
            <a:pPr lvl="0"/>
            <a:r>
              <a:rPr lang="en-US" b="1" dirty="0"/>
              <a:t>Sprint review:</a:t>
            </a:r>
            <a:r>
              <a:rPr lang="en-US" dirty="0"/>
              <a:t> At the end of the sprint, the team presents the completed work to stakeholders and gathers feedback. </a:t>
            </a:r>
          </a:p>
          <a:p>
            <a:pPr lvl="0"/>
            <a:r>
              <a:rPr lang="en-US" b="1" dirty="0"/>
              <a:t>Sprint retrospective:</a:t>
            </a:r>
            <a:r>
              <a:rPr lang="en-US" dirty="0"/>
              <a:t> The team reflects on what went well, what challenges arose, and how processes can be improved before the next sprint begins. </a:t>
            </a:r>
          </a:p>
          <a:p>
            <a:r>
              <a:rPr lang="en-US" dirty="0"/>
              <a:t>The cycle then repeats until the project is complete.</a:t>
            </a:r>
          </a:p>
          <a:p>
            <a:endParaRPr lang="en-US" dirty="0"/>
          </a:p>
        </p:txBody>
      </p:sp>
      <p:sp>
        <p:nvSpPr>
          <p:cNvPr id="4" name="Slide Number Placeholder 3"/>
          <p:cNvSpPr>
            <a:spLocks noGrp="1"/>
          </p:cNvSpPr>
          <p:nvPr>
            <p:ph type="sldNum" sz="quarter" idx="5"/>
          </p:nvPr>
        </p:nvSpPr>
        <p:spPr/>
        <p:txBody>
          <a:bodyPr/>
          <a:lstStyle/>
          <a:p>
            <a:fld id="{153A1F1F-A012-954E-8425-0CEB16787C0A}" type="slidenum">
              <a:rPr lang="en-US" smtClean="0"/>
              <a:t>4</a:t>
            </a:fld>
            <a:endParaRPr lang="en-US"/>
          </a:p>
        </p:txBody>
      </p:sp>
    </p:spTree>
    <p:extLst>
      <p:ext uri="{BB962C8B-B14F-4D97-AF65-F5344CB8AC3E}">
        <p14:creationId xmlns:p14="http://schemas.microsoft.com/office/powerpoint/2010/main" val="213950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Scrum framework</a:t>
            </a:r>
            <a:r>
              <a:rPr lang="en-US" dirty="0"/>
              <a:t> is an Agile framework that helps teams organize and manage complex projects through short, iterative work cycles called </a:t>
            </a:r>
            <a:r>
              <a:rPr lang="en-US" b="1" dirty="0"/>
              <a:t>sprints</a:t>
            </a:r>
            <a:r>
              <a:rPr lang="en-US" dirty="0"/>
              <a:t>.</a:t>
            </a:r>
          </a:p>
        </p:txBody>
      </p:sp>
      <p:sp>
        <p:nvSpPr>
          <p:cNvPr id="4" name="Slide Number Placeholder 3"/>
          <p:cNvSpPr>
            <a:spLocks noGrp="1"/>
          </p:cNvSpPr>
          <p:nvPr>
            <p:ph type="sldNum" sz="quarter" idx="5"/>
          </p:nvPr>
        </p:nvSpPr>
        <p:spPr/>
        <p:txBody>
          <a:bodyPr/>
          <a:lstStyle/>
          <a:p>
            <a:fld id="{153A1F1F-A012-954E-8425-0CEB16787C0A}" type="slidenum">
              <a:rPr lang="en-US" smtClean="0"/>
              <a:t>5</a:t>
            </a:fld>
            <a:endParaRPr lang="en-US"/>
          </a:p>
        </p:txBody>
      </p:sp>
    </p:spTree>
    <p:extLst>
      <p:ext uri="{BB962C8B-B14F-4D97-AF65-F5344CB8AC3E}">
        <p14:creationId xmlns:p14="http://schemas.microsoft.com/office/powerpoint/2010/main" val="2404444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3A1F1F-A012-954E-8425-0CEB16787C0A}" type="slidenum">
              <a:rPr lang="en-US" smtClean="0"/>
              <a:t>8</a:t>
            </a:fld>
            <a:endParaRPr lang="en-US"/>
          </a:p>
        </p:txBody>
      </p:sp>
    </p:spTree>
    <p:extLst>
      <p:ext uri="{BB962C8B-B14F-4D97-AF65-F5344CB8AC3E}">
        <p14:creationId xmlns:p14="http://schemas.microsoft.com/office/powerpoint/2010/main" val="2119577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Backlog is the </a:t>
            </a:r>
            <a:r>
              <a:rPr lang="en-US" i="1" dirty="0"/>
              <a:t>"everything we might do, in priority order"</a:t>
            </a:r>
            <a:r>
              <a:rPr lang="en-US" dirty="0"/>
              <a:t> list, while the Sprint Backlog is the </a:t>
            </a:r>
            <a:r>
              <a:rPr lang="en-US" i="1" dirty="0"/>
              <a:t>"what we're doing right now, and how"</a:t>
            </a:r>
            <a:r>
              <a:rPr lang="en-US" dirty="0"/>
              <a:t> list — a focused slice pulled from the top of the Product Backlog for the current Sprint.</a:t>
            </a:r>
          </a:p>
        </p:txBody>
      </p:sp>
      <p:sp>
        <p:nvSpPr>
          <p:cNvPr id="4" name="Slide Number Placeholder 3"/>
          <p:cNvSpPr>
            <a:spLocks noGrp="1"/>
          </p:cNvSpPr>
          <p:nvPr>
            <p:ph type="sldNum" sz="quarter" idx="5"/>
          </p:nvPr>
        </p:nvSpPr>
        <p:spPr/>
        <p:txBody>
          <a:bodyPr/>
          <a:lstStyle/>
          <a:p>
            <a:fld id="{153A1F1F-A012-954E-8425-0CEB16787C0A}" type="slidenum">
              <a:rPr lang="en-US" smtClean="0"/>
              <a:t>10</a:t>
            </a:fld>
            <a:endParaRPr lang="en-US"/>
          </a:p>
        </p:txBody>
      </p:sp>
    </p:spTree>
    <p:extLst>
      <p:ext uri="{BB962C8B-B14F-4D97-AF65-F5344CB8AC3E}">
        <p14:creationId xmlns:p14="http://schemas.microsoft.com/office/powerpoint/2010/main" val="38476569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481118" y="1877220"/>
            <a:ext cx="8171677" cy="1661993"/>
          </a:xfrm>
          <a:prstGeom prst="rect">
            <a:avLst/>
          </a:prstGeom>
          <a:noFill/>
        </p:spPr>
        <p:txBody>
          <a:bodyPr wrap="square" lIns="0" tIns="0" rIns="0" bIns="0" rtlCol="0">
            <a:spAutoFit/>
          </a:bodyPr>
          <a:lstStyle/>
          <a:p>
            <a:r>
              <a:rPr lang="en-US" sz="1800" dirty="0">
                <a:solidFill>
                  <a:schemeClr val="bg1"/>
                </a:solidFill>
                <a:effectLst/>
                <a:latin typeface="Acumin Pro" panose="020B0504020202020204" pitchFamily="34" charset="77"/>
              </a:rPr>
              <a:t>Support the Purdue University brand in your presentations by using a brand-friendly template. This template uses an accessible master layout. Please note that some changes </a:t>
            </a:r>
            <a:br>
              <a:rPr lang="en-US" sz="1800" dirty="0">
                <a:solidFill>
                  <a:schemeClr val="bg1"/>
                </a:solidFill>
                <a:effectLst/>
                <a:latin typeface="Acumin Pro" panose="020B0504020202020204" pitchFamily="34" charset="77"/>
              </a:rPr>
            </a:br>
            <a:r>
              <a:rPr lang="en-US" sz="1800" dirty="0">
                <a:solidFill>
                  <a:schemeClr val="bg1"/>
                </a:solidFill>
                <a:effectLst/>
                <a:latin typeface="Acumin Pro" panose="020B0504020202020204" pitchFamily="34" charset="77"/>
              </a:rPr>
              <a:t>to the PowerPoint template could impact accessibility by those with disabilities. Follow the instructions provided by Microsoft Office to ensure that your PowerPoint presentations are accessible to all users:</a:t>
            </a:r>
            <a:endParaRPr lang="en-US" sz="1800" dirty="0">
              <a:solidFill>
                <a:schemeClr val="bg1"/>
              </a:solidFill>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481117" y="4133385"/>
            <a:ext cx="7687663" cy="505523"/>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 name="Picture 2">
            <a:extLst>
              <a:ext uri="{FF2B5EF4-FFF2-40B4-BE49-F238E27FC236}">
                <a16:creationId xmlns:a16="http://schemas.microsoft.com/office/drawing/2014/main" id="{7C8BC758-D59E-8E44-B1BB-3467BE203B05}"/>
              </a:ext>
            </a:extLst>
          </p:cNvPr>
          <p:cNvPicPr>
            <a:picLocks noChangeAspect="1"/>
          </p:cNvPicPr>
          <p:nvPr userDrawn="1"/>
        </p:nvPicPr>
        <p:blipFill rotWithShape="1">
          <a:blip r:embed="rId2"/>
          <a:srcRect r="44480" b="-27184"/>
          <a:stretch/>
        </p:blipFill>
        <p:spPr>
          <a:xfrm>
            <a:off x="573583" y="6046656"/>
            <a:ext cx="2635783" cy="47948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9821333" y="0"/>
            <a:ext cx="2370667"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10032275" y="6202177"/>
            <a:ext cx="1142268" cy="323968"/>
          </a:xfrm>
        </p:spPr>
        <p:txBody>
          <a:bodyPr/>
          <a:lstStyle>
            <a:lvl1pPr>
              <a:defRPr>
                <a:solidFill>
                  <a:schemeClr val="accent4">
                    <a:alpha val="70000"/>
                  </a:schemeClr>
                </a:solidFill>
              </a:defRPr>
            </a:lvl1pPr>
          </a:lstStyle>
          <a:p>
            <a:fld id="{049DC8E1-D369-0F48-9062-BB068AFD07CE}" type="datetime1">
              <a:rPr lang="en-US" smtClean="0"/>
              <a:pPr/>
              <a:t>8/17/26</a:t>
            </a:fld>
            <a:endParaRPr lang="en-US" dirty="0"/>
          </a:p>
        </p:txBody>
      </p:sp>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11217832"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9" name="Picture 8">
            <a:extLst>
              <a:ext uri="{FF2B5EF4-FFF2-40B4-BE49-F238E27FC236}">
                <a16:creationId xmlns:a16="http://schemas.microsoft.com/office/drawing/2014/main" id="{7C66C244-46D0-5048-A69E-5C3AE56122B4}"/>
              </a:ext>
            </a:extLst>
          </p:cNvPr>
          <p:cNvPicPr>
            <a:picLocks noChangeAspect="1"/>
          </p:cNvPicPr>
          <p:nvPr userDrawn="1"/>
        </p:nvPicPr>
        <p:blipFill>
          <a:blip r:embed="rId4"/>
          <a:stretch>
            <a:fillRect/>
          </a:stretch>
        </p:blipFill>
        <p:spPr>
          <a:xfrm>
            <a:off x="573583" y="6046655"/>
            <a:ext cx="4793139" cy="385072"/>
          </a:xfrm>
          <a:prstGeom prst="rect">
            <a:avLst/>
          </a:prstGeom>
        </p:spPr>
      </p:pic>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352" userDrawn="1">
          <p15:clr>
            <a:srgbClr val="FBAE40"/>
          </p15:clr>
        </p15:guide>
        <p15:guide id="8" orient="horz" pos="192" userDrawn="1">
          <p15:clr>
            <a:srgbClr val="FBAE40"/>
          </p15:clr>
        </p15:guide>
        <p15:guide id="9" pos="9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1488156" y="1626244"/>
            <a:ext cx="7911945" cy="1523494"/>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Acumin Pro ExtraCondensed" panose="020B0508020202020204" pitchFamily="34" charset="77"/>
              </a:defRPr>
            </a:lvl1pPr>
          </a:lstStyle>
          <a:p>
            <a:r>
              <a:rPr lang="en-US" dirty="0"/>
              <a:t>Title Slide </a:t>
            </a:r>
            <a:r>
              <a:rPr lang="en-US" dirty="0" err="1"/>
              <a:t>Acumin</a:t>
            </a:r>
            <a:r>
              <a:rPr lang="en-US" dirty="0"/>
              <a:t> Pro Extra Cond Bold Italic 60</a:t>
            </a:r>
          </a:p>
        </p:txBody>
      </p:sp>
      <p:sp>
        <p:nvSpPr>
          <p:cNvPr id="3" name="Subtitle"/>
          <p:cNvSpPr>
            <a:spLocks noGrp="1"/>
          </p:cNvSpPr>
          <p:nvPr>
            <p:ph type="subTitle" idx="1" hasCustomPrompt="1"/>
          </p:nvPr>
        </p:nvSpPr>
        <p:spPr>
          <a:xfrm>
            <a:off x="1495680" y="3990085"/>
            <a:ext cx="7096269" cy="336015"/>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a:t>
            </a:r>
            <a:r>
              <a:rPr lang="en-US" dirty="0" err="1"/>
              <a:t>Acumin</a:t>
            </a:r>
            <a:r>
              <a:rPr lang="en-US" dirty="0"/>
              <a:t> Pro Semi Cond Bold 22 </a:t>
            </a:r>
            <a:r>
              <a:rPr lang="en-US" dirty="0" err="1"/>
              <a:t>pt</a:t>
            </a:r>
            <a:endParaRPr lang="en-US" dirty="0"/>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p:nvPicPr>
        <p:blipFill>
          <a:blip r:embed="rId2"/>
          <a:stretch>
            <a:fillRect/>
          </a:stretch>
        </p:blipFill>
        <p:spPr>
          <a:xfrm>
            <a:off x="9821333" y="0"/>
            <a:ext cx="2370667" cy="6858000"/>
          </a:xfrm>
          <a:prstGeom prst="rect">
            <a:avLst/>
          </a:prstGeom>
        </p:spPr>
      </p:pic>
      <p:sp>
        <p:nvSpPr>
          <p:cNvPr id="7" name="Date"/>
          <p:cNvSpPr>
            <a:spLocks noGrp="1"/>
          </p:cNvSpPr>
          <p:nvPr>
            <p:ph type="dt" sz="half" idx="10"/>
          </p:nvPr>
        </p:nvSpPr>
        <p:spPr/>
        <p:txBody>
          <a:bodyPr/>
          <a:lstStyle>
            <a:lvl1pPr>
              <a:defRPr>
                <a:solidFill>
                  <a:schemeClr val="accent4">
                    <a:alpha val="70000"/>
                  </a:schemeClr>
                </a:solidFill>
              </a:defRPr>
            </a:lvl1pPr>
          </a:lstStyle>
          <a:p>
            <a:fld id="{049DC8E1-D369-0F48-9062-BB068AFD07CE}" type="datetime1">
              <a:rPr lang="en-US" smtClean="0"/>
              <a:pPr/>
              <a:t>8/17/26</a:t>
            </a:fld>
            <a:endParaRPr lang="en-US" dirty="0"/>
          </a:p>
        </p:txBody>
      </p:sp>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cNvSpPr>
            <a:spLocks noGrp="1"/>
          </p:cNvSpPr>
          <p:nvPr>
            <p:ph type="sldNum" sz="quarter" idx="12"/>
          </p:nvPr>
        </p:nvSpPr>
        <p:spPr>
          <a:xfrm>
            <a:off x="11214213"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10" name="Picture 9">
            <a:extLst>
              <a:ext uri="{FF2B5EF4-FFF2-40B4-BE49-F238E27FC236}">
                <a16:creationId xmlns:a16="http://schemas.microsoft.com/office/drawing/2014/main" id="{6CC569C7-EC53-2941-BC65-AAA7EA1E2E3F}"/>
              </a:ext>
            </a:extLst>
          </p:cNvPr>
          <p:cNvPicPr>
            <a:picLocks noChangeAspect="1"/>
          </p:cNvPicPr>
          <p:nvPr userDrawn="1"/>
        </p:nvPicPr>
        <p:blipFill>
          <a:blip r:embed="rId3"/>
          <a:stretch>
            <a:fillRect/>
          </a:stretch>
        </p:blipFill>
        <p:spPr>
          <a:xfrm>
            <a:off x="573583" y="6046656"/>
            <a:ext cx="4795148" cy="384048"/>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8" pos="9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7009" y="0"/>
            <a:ext cx="11514667" cy="914400"/>
          </a:xfrm>
          <a:prstGeom prst="rect">
            <a:avLst/>
          </a:prstGeom>
        </p:spPr>
      </p:pic>
      <p:sp>
        <p:nvSpPr>
          <p:cNvPr id="2" name="Title"/>
          <p:cNvSpPr>
            <a:spLocks noGrp="1"/>
          </p:cNvSpPr>
          <p:nvPr>
            <p:ph type="ctrTitle" hasCustomPrompt="1"/>
          </p:nvPr>
        </p:nvSpPr>
        <p:spPr bwMode="blackWhite">
          <a:xfrm>
            <a:off x="1489619" y="442674"/>
            <a:ext cx="9234309"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dirty="0"/>
              <a:t>Title </a:t>
            </a:r>
            <a:r>
              <a:rPr lang="en-US" dirty="0" err="1"/>
              <a:t>Acumin</a:t>
            </a:r>
            <a:r>
              <a:rPr lang="en-US" dirty="0"/>
              <a:t> Pro Extra Cond Bold Italic 36 </a:t>
            </a:r>
            <a:r>
              <a:rPr lang="en-US" dirty="0" err="1"/>
              <a:t>pt</a:t>
            </a:r>
            <a:endParaRPr lang="en-US" dirty="0"/>
          </a:p>
        </p:txBody>
      </p:sp>
      <p:sp>
        <p:nvSpPr>
          <p:cNvPr id="3" name="Subhead"/>
          <p:cNvSpPr>
            <a:spLocks noGrp="1"/>
          </p:cNvSpPr>
          <p:nvPr>
            <p:ph type="subTitle" idx="1" hasCustomPrompt="1"/>
          </p:nvPr>
        </p:nvSpPr>
        <p:spPr>
          <a:xfrm>
            <a:off x="1489618" y="1345167"/>
            <a:ext cx="7321993" cy="341599"/>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a:t>
            </a:r>
            <a:r>
              <a:rPr lang="en-US" dirty="0" err="1"/>
              <a:t>Acumin</a:t>
            </a:r>
            <a:r>
              <a:rPr lang="en-US" dirty="0"/>
              <a:t> Pro Semi Cond Bold 22 </a:t>
            </a:r>
            <a:r>
              <a:rPr lang="en-US" dirty="0" err="1"/>
              <a:t>pt</a:t>
            </a:r>
            <a:endParaRPr lang="en-US" dirty="0"/>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428620" y="1962540"/>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sp>
        <p:nvSpPr>
          <p:cNvPr id="28" name="Date">
            <a:extLst>
              <a:ext uri="{FF2B5EF4-FFF2-40B4-BE49-F238E27FC236}">
                <a16:creationId xmlns:a16="http://schemas.microsoft.com/office/drawing/2014/main" id="{32B67432-75BE-B145-B884-FF16D239EAF2}"/>
              </a:ext>
            </a:extLst>
          </p:cNvPr>
          <p:cNvSpPr>
            <a:spLocks noGrp="1"/>
          </p:cNvSpPr>
          <p:nvPr>
            <p:ph type="dt" sz="half" idx="2"/>
          </p:nvPr>
        </p:nvSpPr>
        <p:spPr>
          <a:xfrm>
            <a:off x="10136783" y="6202177"/>
            <a:ext cx="1037760"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0C8DACD-4E35-4E4C-AC75-C3DE50F04E7E}" type="datetime1">
              <a:rPr lang="en-US" smtClean="0"/>
              <a:pPr/>
              <a:t>8/17/26</a:t>
            </a:fld>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11200667"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Slide Number">
            <a:extLst>
              <a:ext uri="{FF2B5EF4-FFF2-40B4-BE49-F238E27FC236}">
                <a16:creationId xmlns:a16="http://schemas.microsoft.com/office/drawing/2014/main" id="{49E8753C-A442-034F-B0F4-92D22B3247FE}"/>
              </a:ext>
            </a:extLst>
          </p:cNvPr>
          <p:cNvSpPr>
            <a:spLocks noGrp="1"/>
          </p:cNvSpPr>
          <p:nvPr>
            <p:ph type="sldNum" sz="quarter" idx="4"/>
          </p:nvPr>
        </p:nvSpPr>
        <p:spPr>
          <a:xfrm>
            <a:off x="11217832"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pic>
        <p:nvPicPr>
          <p:cNvPr id="11" name="Picture 10">
            <a:extLst>
              <a:ext uri="{FF2B5EF4-FFF2-40B4-BE49-F238E27FC236}">
                <a16:creationId xmlns:a16="http://schemas.microsoft.com/office/drawing/2014/main" id="{FD0A9CB2-D1BB-6449-AC05-3EA17EC18AA4}"/>
              </a:ext>
            </a:extLst>
          </p:cNvPr>
          <p:cNvPicPr>
            <a:picLocks noChangeAspect="1"/>
          </p:cNvPicPr>
          <p:nvPr userDrawn="1"/>
        </p:nvPicPr>
        <p:blipFill rotWithShape="1">
          <a:blip r:embed="rId3"/>
          <a:srcRect r="44480" b="-1837"/>
          <a:stretch/>
        </p:blipFill>
        <p:spPr>
          <a:xfrm>
            <a:off x="573583" y="6046656"/>
            <a:ext cx="2635783" cy="383932"/>
          </a:xfrm>
          <a:prstGeom prst="rect">
            <a:avLst/>
          </a:prstGeom>
        </p:spPr>
      </p:pic>
      <p:pic>
        <p:nvPicPr>
          <p:cNvPr id="10" name="Picture 9">
            <a:extLst>
              <a:ext uri="{FF2B5EF4-FFF2-40B4-BE49-F238E27FC236}">
                <a16:creationId xmlns:a16="http://schemas.microsoft.com/office/drawing/2014/main" id="{21A56621-3DBF-9546-86B4-C61E7C91C37B}"/>
              </a:ext>
            </a:extLst>
          </p:cNvPr>
          <p:cNvPicPr>
            <a:picLocks noChangeAspect="1"/>
          </p:cNvPicPr>
          <p:nvPr userDrawn="1"/>
        </p:nvPicPr>
        <p:blipFill>
          <a:blip r:embed="rId4"/>
          <a:stretch>
            <a:fillRect/>
          </a:stretch>
        </p:blipFill>
        <p:spPr>
          <a:xfrm>
            <a:off x="573583" y="6046656"/>
            <a:ext cx="4793139" cy="385072"/>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32" userDrawn="1">
          <p15:clr>
            <a:srgbClr val="FBAE40"/>
          </p15:clr>
        </p15:guide>
        <p15:guide id="7" pos="1312" userDrawn="1">
          <p15:clr>
            <a:srgbClr val="FBAE40"/>
          </p15:clr>
        </p15:guide>
        <p15:guide id="8" pos="928" userDrawn="1">
          <p15:clr>
            <a:srgbClr val="FBAE40"/>
          </p15:clr>
        </p15:guide>
        <p15:guide id="9" pos="15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7009" y="0"/>
            <a:ext cx="11514667"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489619" y="442674"/>
            <a:ext cx="9234309"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dirty="0"/>
              <a:t>Title </a:t>
            </a:r>
            <a:r>
              <a:rPr lang="en-US" dirty="0" err="1"/>
              <a:t>Acumin</a:t>
            </a:r>
            <a:r>
              <a:rPr lang="en-US" dirty="0"/>
              <a:t> Pro Extra Cond Bold Italic 36 </a:t>
            </a:r>
            <a:r>
              <a:rPr lang="en-US" dirty="0" err="1"/>
              <a:t>pt</a:t>
            </a:r>
            <a:endParaRPr lang="en-US" dirty="0"/>
          </a:p>
        </p:txBody>
      </p:sp>
      <p:sp>
        <p:nvSpPr>
          <p:cNvPr id="3" name="Subhead"/>
          <p:cNvSpPr>
            <a:spLocks noGrp="1"/>
          </p:cNvSpPr>
          <p:nvPr>
            <p:ph type="subTitle" idx="1" hasCustomPrompt="1"/>
          </p:nvPr>
        </p:nvSpPr>
        <p:spPr>
          <a:xfrm>
            <a:off x="1490239" y="1345166"/>
            <a:ext cx="7288495" cy="338554"/>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a:t>
            </a:r>
            <a:r>
              <a:rPr lang="en-US" dirty="0" err="1"/>
              <a:t>Acumin</a:t>
            </a:r>
            <a:r>
              <a:rPr lang="en-US" dirty="0"/>
              <a:t> Pro Semi Cond Bold 22 </a:t>
            </a:r>
            <a:r>
              <a:rPr lang="en-US" dirty="0" err="1"/>
              <a:t>pt</a:t>
            </a:r>
            <a:endParaRPr lang="en-US" dirty="0"/>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504669" y="1917389"/>
            <a:ext cx="4591332"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6354234" y="1920876"/>
            <a:ext cx="5287433" cy="2982913"/>
          </a:xfrm>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23" name="Date">
            <a:extLst>
              <a:ext uri="{FF2B5EF4-FFF2-40B4-BE49-F238E27FC236}">
                <a16:creationId xmlns:a16="http://schemas.microsoft.com/office/drawing/2014/main" id="{CF069E70-AF49-2042-836A-1CC5C09B9CCB}"/>
              </a:ext>
            </a:extLst>
          </p:cNvPr>
          <p:cNvSpPr>
            <a:spLocks noGrp="1"/>
          </p:cNvSpPr>
          <p:nvPr>
            <p:ph type="dt" sz="half" idx="2"/>
          </p:nvPr>
        </p:nvSpPr>
        <p:spPr>
          <a:xfrm>
            <a:off x="10049694" y="6202177"/>
            <a:ext cx="1124849"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0C8DACD-4E35-4E4C-AC75-C3DE50F04E7E}" type="datetime1">
              <a:rPr lang="en-US" smtClean="0"/>
              <a:pPr/>
              <a:t>8/17/26</a:t>
            </a:fld>
            <a:endParaRPr lang="en-US" dirty="0"/>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11200667"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Slide Number">
            <a:extLst>
              <a:ext uri="{FF2B5EF4-FFF2-40B4-BE49-F238E27FC236}">
                <a16:creationId xmlns:a16="http://schemas.microsoft.com/office/drawing/2014/main" id="{50D54855-2B56-7D4D-BC1F-BBB8B58B9663}"/>
              </a:ext>
            </a:extLst>
          </p:cNvPr>
          <p:cNvSpPr>
            <a:spLocks noGrp="1"/>
          </p:cNvSpPr>
          <p:nvPr>
            <p:ph type="sldNum" sz="quarter" idx="4"/>
          </p:nvPr>
        </p:nvSpPr>
        <p:spPr>
          <a:xfrm>
            <a:off x="11217832"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pic>
        <p:nvPicPr>
          <p:cNvPr id="13" name="Picture 12">
            <a:extLst>
              <a:ext uri="{FF2B5EF4-FFF2-40B4-BE49-F238E27FC236}">
                <a16:creationId xmlns:a16="http://schemas.microsoft.com/office/drawing/2014/main" id="{6AFD9354-A837-7044-876A-C7ACD980518B}"/>
              </a:ext>
            </a:extLst>
          </p:cNvPr>
          <p:cNvPicPr>
            <a:picLocks noChangeAspect="1"/>
          </p:cNvPicPr>
          <p:nvPr userDrawn="1"/>
        </p:nvPicPr>
        <p:blipFill rotWithShape="1">
          <a:blip r:embed="rId3"/>
          <a:srcRect r="44858" b="-27184"/>
          <a:stretch/>
        </p:blipFill>
        <p:spPr>
          <a:xfrm>
            <a:off x="573583" y="6046656"/>
            <a:ext cx="2617852" cy="479489"/>
          </a:xfrm>
          <a:prstGeom prst="rect">
            <a:avLst/>
          </a:prstGeom>
        </p:spPr>
      </p:pic>
      <p:pic>
        <p:nvPicPr>
          <p:cNvPr id="11" name="Picture 10">
            <a:extLst>
              <a:ext uri="{FF2B5EF4-FFF2-40B4-BE49-F238E27FC236}">
                <a16:creationId xmlns:a16="http://schemas.microsoft.com/office/drawing/2014/main" id="{2A16A5E4-A683-0C40-959F-8DE37561FE2F}"/>
              </a:ext>
            </a:extLst>
          </p:cNvPr>
          <p:cNvPicPr>
            <a:picLocks noChangeAspect="1"/>
          </p:cNvPicPr>
          <p:nvPr userDrawn="1"/>
        </p:nvPicPr>
        <p:blipFill>
          <a:blip r:embed="rId4"/>
          <a:stretch>
            <a:fillRect/>
          </a:stretch>
        </p:blipFill>
        <p:spPr>
          <a:xfrm>
            <a:off x="573583" y="6034882"/>
            <a:ext cx="4793139" cy="385072"/>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9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508000" y="304800"/>
            <a:ext cx="3838891" cy="1004121"/>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Acumin Pro" panose="020B0504020202020204" pitchFamily="34" charset="77"/>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9821333" y="0"/>
            <a:ext cx="2370667"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10032276" y="6202177"/>
            <a:ext cx="1142267" cy="323968"/>
          </a:xfrm>
        </p:spPr>
        <p:txBody>
          <a:bodyPr/>
          <a:lstStyle>
            <a:lvl1pPr>
              <a:defRPr>
                <a:solidFill>
                  <a:schemeClr val="accent4">
                    <a:alpha val="70000"/>
                  </a:schemeClr>
                </a:solidFill>
              </a:defRPr>
            </a:lvl1pPr>
          </a:lstStyle>
          <a:p>
            <a:fld id="{049DC8E1-D369-0F48-9062-BB068AFD07CE}" type="datetime1">
              <a:rPr lang="en-US" smtClean="0"/>
              <a:pPr/>
              <a:t>8/17/26</a:t>
            </a:fld>
            <a:endParaRPr lang="en-US" dirty="0"/>
          </a:p>
        </p:txBody>
      </p:sp>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11217832"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10" name="Picture 9">
            <a:extLst>
              <a:ext uri="{FF2B5EF4-FFF2-40B4-BE49-F238E27FC236}">
                <a16:creationId xmlns:a16="http://schemas.microsoft.com/office/drawing/2014/main" id="{2D5DCED6-DD74-A047-8ABB-9CA6E708F52B}"/>
              </a:ext>
            </a:extLst>
          </p:cNvPr>
          <p:cNvPicPr>
            <a:picLocks noChangeAspect="1"/>
          </p:cNvPicPr>
          <p:nvPr userDrawn="1"/>
        </p:nvPicPr>
        <p:blipFill rotWithShape="1">
          <a:blip r:embed="rId3"/>
          <a:srcRect r="45235" b="-1837"/>
          <a:stretch/>
        </p:blipFill>
        <p:spPr>
          <a:xfrm>
            <a:off x="573584" y="6046656"/>
            <a:ext cx="2599923" cy="383932"/>
          </a:xfrm>
          <a:prstGeom prst="rect">
            <a:avLst/>
          </a:prstGeom>
        </p:spPr>
      </p:pic>
      <p:pic>
        <p:nvPicPr>
          <p:cNvPr id="9" name="Picture 8">
            <a:extLst>
              <a:ext uri="{FF2B5EF4-FFF2-40B4-BE49-F238E27FC236}">
                <a16:creationId xmlns:a16="http://schemas.microsoft.com/office/drawing/2014/main" id="{E36594FD-A938-5841-85EB-FBF4499AEF72}"/>
              </a:ext>
            </a:extLst>
          </p:cNvPr>
          <p:cNvPicPr>
            <a:picLocks noChangeAspect="1"/>
          </p:cNvPicPr>
          <p:nvPr userDrawn="1"/>
        </p:nvPicPr>
        <p:blipFill>
          <a:blip r:embed="rId4"/>
          <a:stretch>
            <a:fillRect/>
          </a:stretch>
        </p:blipFill>
        <p:spPr>
          <a:xfrm>
            <a:off x="573584" y="6042986"/>
            <a:ext cx="4793139" cy="385072"/>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352" userDrawn="1">
          <p15:clr>
            <a:srgbClr val="FBAE40"/>
          </p15:clr>
        </p15:guide>
        <p15:guide id="8" orient="horz" pos="192" userDrawn="1">
          <p15:clr>
            <a:srgbClr val="FBAE40"/>
          </p15:clr>
        </p15:guide>
        <p15:guide id="9" pos="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893545" y="1466567"/>
            <a:ext cx="6419331"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United Sans Reg Medium" pitchFamily="2" charset="77"/>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2648276" y="2706475"/>
            <a:ext cx="6895463" cy="553998"/>
          </a:xfrm>
          <a:noFill/>
        </p:spPr>
        <p:txBody>
          <a:bodyPr wrap="square" lIns="0" tIns="0" rIns="0" bIns="0" anchor="t" anchorCtr="0">
            <a:spAutoFit/>
          </a:bodyPr>
          <a:lstStyle>
            <a:lvl1pPr marL="0" indent="0" algn="ctr">
              <a:buNone/>
              <a:defRPr sz="3600" b="1" i="0" spc="300">
                <a:solidFill>
                  <a:schemeClr val="accent4"/>
                </a:solidFill>
                <a:latin typeface="United Sans Cd Md" pitchFamily="50"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Acumin Pro Medium" panose="020B0504020202020204" pitchFamily="34" charset="77"/>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9821333" y="0"/>
            <a:ext cx="2370667" cy="6858000"/>
          </a:xfrm>
          <a:prstGeom prst="rect">
            <a:avLst/>
          </a:prstGeom>
        </p:spPr>
      </p:pic>
      <p:sp>
        <p:nvSpPr>
          <p:cNvPr id="25" name="Date">
            <a:extLst>
              <a:ext uri="{FF2B5EF4-FFF2-40B4-BE49-F238E27FC236}">
                <a16:creationId xmlns:a16="http://schemas.microsoft.com/office/drawing/2014/main" id="{A7492D50-D618-9F40-B9F2-9B08441829B8}"/>
              </a:ext>
            </a:extLst>
          </p:cNvPr>
          <p:cNvSpPr>
            <a:spLocks noGrp="1"/>
          </p:cNvSpPr>
          <p:nvPr>
            <p:ph type="dt" sz="half" idx="10"/>
          </p:nvPr>
        </p:nvSpPr>
        <p:spPr>
          <a:xfrm>
            <a:off x="10154195" y="6202177"/>
            <a:ext cx="1020348" cy="323968"/>
          </a:xfrm>
        </p:spPr>
        <p:txBody>
          <a:bodyPr/>
          <a:lstStyle>
            <a:lvl1pPr>
              <a:defRPr>
                <a:solidFill>
                  <a:schemeClr val="accent4">
                    <a:alpha val="70000"/>
                  </a:schemeClr>
                </a:solidFill>
              </a:defRPr>
            </a:lvl1pPr>
          </a:lstStyle>
          <a:p>
            <a:fld id="{049DC8E1-D369-0F48-9062-BB068AFD07CE}" type="datetime1">
              <a:rPr lang="en-US" smtClean="0"/>
              <a:pPr/>
              <a:t>8/17/26</a:t>
            </a:fld>
            <a:endParaRPr lang="en-US" dirty="0"/>
          </a:p>
        </p:txBody>
      </p:sp>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Slide Number">
            <a:extLst>
              <a:ext uri="{FF2B5EF4-FFF2-40B4-BE49-F238E27FC236}">
                <a16:creationId xmlns:a16="http://schemas.microsoft.com/office/drawing/2014/main" id="{8E13B548-F076-CF46-A887-15D7D4869738}"/>
              </a:ext>
            </a:extLst>
          </p:cNvPr>
          <p:cNvSpPr>
            <a:spLocks noGrp="1"/>
          </p:cNvSpPr>
          <p:nvPr>
            <p:ph type="sldNum" sz="quarter" idx="12"/>
          </p:nvPr>
        </p:nvSpPr>
        <p:spPr>
          <a:xfrm>
            <a:off x="11217832"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12" name="Picture 11">
            <a:extLst>
              <a:ext uri="{FF2B5EF4-FFF2-40B4-BE49-F238E27FC236}">
                <a16:creationId xmlns:a16="http://schemas.microsoft.com/office/drawing/2014/main" id="{290F7AF6-B45B-7C4B-9526-3F12ECCA7C48}"/>
              </a:ext>
            </a:extLst>
          </p:cNvPr>
          <p:cNvPicPr>
            <a:picLocks noChangeAspect="1"/>
          </p:cNvPicPr>
          <p:nvPr userDrawn="1"/>
        </p:nvPicPr>
        <p:blipFill>
          <a:blip r:embed="rId3"/>
          <a:stretch>
            <a:fillRect/>
          </a:stretch>
        </p:blipFill>
        <p:spPr>
          <a:xfrm>
            <a:off x="573582" y="6040868"/>
            <a:ext cx="4795148" cy="384048"/>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orient="horz" pos="1008" userDrawn="1">
          <p15:clr>
            <a:srgbClr val="FBAE40"/>
          </p15:clr>
        </p15:guide>
        <p15:guide id="8" orient="horz" pos="14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12192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1452193" y="1557666"/>
            <a:ext cx="7334529"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Acumin Pro ExtraCondensed" panose="020B0508020202020204" pitchFamily="34" charset="77"/>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476416" y="2578489"/>
            <a:ext cx="733452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9821333" y="0"/>
            <a:ext cx="2370667" cy="6858000"/>
          </a:xfrm>
          <a:prstGeom prst="rect">
            <a:avLst/>
          </a:prstGeom>
        </p:spPr>
      </p:pic>
      <p:sp>
        <p:nvSpPr>
          <p:cNvPr id="22" name="Date">
            <a:extLst>
              <a:ext uri="{FF2B5EF4-FFF2-40B4-BE49-F238E27FC236}">
                <a16:creationId xmlns:a16="http://schemas.microsoft.com/office/drawing/2014/main" id="{F8CD2E15-DFA2-0F4C-8839-A9AD4504A2B8}"/>
              </a:ext>
            </a:extLst>
          </p:cNvPr>
          <p:cNvSpPr>
            <a:spLocks noGrp="1"/>
          </p:cNvSpPr>
          <p:nvPr>
            <p:ph type="dt" sz="half" idx="10"/>
          </p:nvPr>
        </p:nvSpPr>
        <p:spPr>
          <a:xfrm>
            <a:off x="10084526" y="6202177"/>
            <a:ext cx="1090017" cy="323968"/>
          </a:xfrm>
        </p:spPr>
        <p:txBody>
          <a:bodyPr/>
          <a:lstStyle>
            <a:lvl1pPr>
              <a:defRPr>
                <a:solidFill>
                  <a:schemeClr val="accent4">
                    <a:alpha val="70000"/>
                  </a:schemeClr>
                </a:solidFill>
              </a:defRPr>
            </a:lvl1pPr>
          </a:lstStyle>
          <a:p>
            <a:fld id="{049DC8E1-D369-0F48-9062-BB068AFD07CE}" type="datetime1">
              <a:rPr lang="en-US" smtClean="0"/>
              <a:pPr/>
              <a:t>8/17/26</a:t>
            </a:fld>
            <a:endParaRPr lang="en-US" dirty="0"/>
          </a:p>
        </p:txBody>
      </p:sp>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Slide Number">
            <a:extLst>
              <a:ext uri="{FF2B5EF4-FFF2-40B4-BE49-F238E27FC236}">
                <a16:creationId xmlns:a16="http://schemas.microsoft.com/office/drawing/2014/main" id="{ACFC5D5C-1C9B-F148-A910-72ADDA93ABF0}"/>
              </a:ext>
            </a:extLst>
          </p:cNvPr>
          <p:cNvSpPr>
            <a:spLocks noGrp="1"/>
          </p:cNvSpPr>
          <p:nvPr>
            <p:ph type="sldNum" sz="quarter" idx="12"/>
          </p:nvPr>
        </p:nvSpPr>
        <p:spPr>
          <a:xfrm>
            <a:off x="11217832"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pic>
        <p:nvPicPr>
          <p:cNvPr id="10" name="Picture 9">
            <a:extLst>
              <a:ext uri="{FF2B5EF4-FFF2-40B4-BE49-F238E27FC236}">
                <a16:creationId xmlns:a16="http://schemas.microsoft.com/office/drawing/2014/main" id="{2310F097-111B-D544-A391-85BAD934E163}"/>
              </a:ext>
            </a:extLst>
          </p:cNvPr>
          <p:cNvPicPr>
            <a:picLocks noChangeAspect="1"/>
          </p:cNvPicPr>
          <p:nvPr userDrawn="1"/>
        </p:nvPicPr>
        <p:blipFill>
          <a:blip r:embed="rId3"/>
          <a:stretch>
            <a:fillRect/>
          </a:stretch>
        </p:blipFill>
        <p:spPr>
          <a:xfrm>
            <a:off x="573585" y="6037768"/>
            <a:ext cx="4795148" cy="384048"/>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92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154195" y="6202177"/>
            <a:ext cx="1020348"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0C8DACD-4E35-4E4C-AC75-C3DE50F04E7E}" type="datetime1">
              <a:rPr lang="en-US" smtClean="0"/>
              <a:pPr/>
              <a:t>8/17/26</a:t>
            </a:fld>
            <a:endParaRPr lang="en-US" dirty="0"/>
          </a:p>
        </p:txBody>
      </p:sp>
      <p:sp>
        <p:nvSpPr>
          <p:cNvPr id="5" name="Footer Placeholder 4"/>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1299112"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cxnSp>
        <p:nvCxnSpPr>
          <p:cNvPr id="16" name="Straight Connector 15">
            <a:extLst>
              <a:ext uri="{FF2B5EF4-FFF2-40B4-BE49-F238E27FC236}">
                <a16:creationId xmlns:a16="http://schemas.microsoft.com/office/drawing/2014/main" id="{8DFF833F-712C-324A-8187-5455C581BDBA}"/>
              </a:ext>
            </a:extLst>
          </p:cNvPr>
          <p:cNvCxnSpPr>
            <a:cxnSpLocks/>
          </p:cNvCxnSpPr>
          <p:nvPr/>
        </p:nvCxnSpPr>
        <p:spPr>
          <a:xfrm>
            <a:off x="11200667"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056" userDrawn="1">
          <p15:clr>
            <a:srgbClr val="F26B43"/>
          </p15:clr>
        </p15:guide>
        <p15:guide id="4"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C6DAED2-C73D-2443-84E6-FD89A1066655}"/>
              </a:ext>
            </a:extLst>
          </p:cNvPr>
          <p:cNvSpPr>
            <a:spLocks noGrp="1"/>
          </p:cNvSpPr>
          <p:nvPr>
            <p:ph type="ctrTitle"/>
          </p:nvPr>
        </p:nvSpPr>
        <p:spPr>
          <a:xfrm>
            <a:off x="2479343" y="2892337"/>
            <a:ext cx="5933959" cy="784830"/>
          </a:xfrm>
        </p:spPr>
        <p:txBody>
          <a:bodyPr/>
          <a:lstStyle/>
          <a:p>
            <a:r>
              <a:rPr lang="en-US" dirty="0"/>
              <a:t>DATA MINE AGILE </a:t>
            </a:r>
            <a:r>
              <a:rPr lang="en-US" dirty="0" err="1"/>
              <a:t>TRaining</a:t>
            </a:r>
            <a:endParaRPr lang="en-US" dirty="0"/>
          </a:p>
        </p:txBody>
      </p:sp>
      <p:sp>
        <p:nvSpPr>
          <p:cNvPr id="4" name="Date">
            <a:extLst>
              <a:ext uri="{FF2B5EF4-FFF2-40B4-BE49-F238E27FC236}">
                <a16:creationId xmlns:a16="http://schemas.microsoft.com/office/drawing/2014/main" id="{4EEC893F-2E6E-8648-8011-345CAE3441CC}"/>
              </a:ext>
            </a:extLst>
          </p:cNvPr>
          <p:cNvSpPr>
            <a:spLocks noGrp="1"/>
          </p:cNvSpPr>
          <p:nvPr>
            <p:ph type="dt" sz="half" idx="10"/>
          </p:nvPr>
        </p:nvSpPr>
        <p:spPr/>
        <p:txBody>
          <a:bodyPr/>
          <a:lstStyle/>
          <a:p>
            <a:fld id="{049DC8E1-D369-0F48-9062-BB068AFD07CE}" type="datetime1">
              <a:rPr lang="en-US" smtClean="0"/>
              <a:pPr/>
              <a:t>8/17/26</a:t>
            </a:fld>
            <a:endParaRPr lang="en-US" dirty="0"/>
          </a:p>
        </p:txBody>
      </p:sp>
      <p:sp>
        <p:nvSpPr>
          <p:cNvPr id="5" name="Slide Number">
            <a:extLst>
              <a:ext uri="{FF2B5EF4-FFF2-40B4-BE49-F238E27FC236}">
                <a16:creationId xmlns:a16="http://schemas.microsoft.com/office/drawing/2014/main" id="{BC6C36F4-D49A-904E-968D-C3A9784ABFE4}"/>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66474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3D8CC3-AEE7-3B4D-A81B-7AA993B18E10}"/>
              </a:ext>
            </a:extLst>
          </p:cNvPr>
          <p:cNvSpPr>
            <a:spLocks noGrp="1"/>
          </p:cNvSpPr>
          <p:nvPr>
            <p:ph type="ctrTitle"/>
          </p:nvPr>
        </p:nvSpPr>
        <p:spPr/>
        <p:txBody>
          <a:bodyPr/>
          <a:lstStyle/>
          <a:p>
            <a:r>
              <a:rPr lang="en-US" dirty="0"/>
              <a:t>What is Agile?</a:t>
            </a:r>
          </a:p>
        </p:txBody>
      </p:sp>
      <p:sp>
        <p:nvSpPr>
          <p:cNvPr id="4" name="Date Placeholder 3">
            <a:extLst>
              <a:ext uri="{FF2B5EF4-FFF2-40B4-BE49-F238E27FC236}">
                <a16:creationId xmlns:a16="http://schemas.microsoft.com/office/drawing/2014/main" id="{C4CC5C35-1F79-514F-A8FA-39CD684FF17E}"/>
              </a:ext>
            </a:extLst>
          </p:cNvPr>
          <p:cNvSpPr>
            <a:spLocks noGrp="1"/>
          </p:cNvSpPr>
          <p:nvPr>
            <p:ph type="dt" sz="half" idx="2"/>
          </p:nvPr>
        </p:nvSpPr>
        <p:spPr/>
        <p:txBody>
          <a:bodyPr/>
          <a:lstStyle/>
          <a:p>
            <a:fld id="{049DC8E1-D369-0F48-9062-BB068AFD07CE}" type="datetime1">
              <a:rPr lang="en-US" smtClean="0"/>
              <a:pPr/>
              <a:t>8/17/26</a:t>
            </a:fld>
            <a:endParaRPr lang="en-US" dirty="0"/>
          </a:p>
        </p:txBody>
      </p:sp>
      <p:sp>
        <p:nvSpPr>
          <p:cNvPr id="5" name="Slide Number Placeholder 4">
            <a:extLst>
              <a:ext uri="{FF2B5EF4-FFF2-40B4-BE49-F238E27FC236}">
                <a16:creationId xmlns:a16="http://schemas.microsoft.com/office/drawing/2014/main" id="{B99A996E-810D-5A4B-B99F-EE6DF6EC35D6}"/>
              </a:ext>
            </a:extLst>
          </p:cNvPr>
          <p:cNvSpPr>
            <a:spLocks noGrp="1"/>
          </p:cNvSpPr>
          <p:nvPr>
            <p:ph type="sldNum" sz="quarter" idx="4"/>
          </p:nvPr>
        </p:nvSpPr>
        <p:spPr/>
        <p:txBody>
          <a:bodyPr/>
          <a:lstStyle/>
          <a:p>
            <a:fld id="{8A7A6979-0714-4377-B894-6BE4C2D6E202}" type="slidenum">
              <a:rPr lang="en-US" smtClean="0"/>
              <a:pPr/>
              <a:t>2</a:t>
            </a:fld>
            <a:endParaRPr lang="en-US" dirty="0"/>
          </a:p>
        </p:txBody>
      </p:sp>
      <p:sp>
        <p:nvSpPr>
          <p:cNvPr id="2" name="TextBox 1">
            <a:extLst>
              <a:ext uri="{FF2B5EF4-FFF2-40B4-BE49-F238E27FC236}">
                <a16:creationId xmlns:a16="http://schemas.microsoft.com/office/drawing/2014/main" id="{20B8015D-A7C9-6645-9F76-32A4ABFDAB4F}"/>
              </a:ext>
            </a:extLst>
          </p:cNvPr>
          <p:cNvSpPr txBox="1"/>
          <p:nvPr/>
        </p:nvSpPr>
        <p:spPr>
          <a:xfrm>
            <a:off x="1489619" y="2158090"/>
            <a:ext cx="8851076" cy="2516073"/>
          </a:xfrm>
          <a:prstGeom prst="rect">
            <a:avLst/>
          </a:prstGeom>
          <a:noFill/>
        </p:spPr>
        <p:txBody>
          <a:bodyPr wrap="square" rtlCol="0">
            <a:spAutoFit/>
          </a:bodyPr>
          <a:lstStyle/>
          <a:p>
            <a:pPr algn="ctr">
              <a:lnSpc>
                <a:spcPct val="150000"/>
              </a:lnSpc>
            </a:pPr>
            <a:r>
              <a:rPr lang="en-US" sz="3600" dirty="0">
                <a:solidFill>
                  <a:srgbClr val="92D050"/>
                </a:solidFill>
              </a:rPr>
              <a:t>Agile is a method of customer-focused project management focused on incremental and iterative delivery</a:t>
            </a:r>
          </a:p>
        </p:txBody>
      </p:sp>
      <p:sp>
        <p:nvSpPr>
          <p:cNvPr id="3" name="Left Brace 2">
            <a:extLst>
              <a:ext uri="{FF2B5EF4-FFF2-40B4-BE49-F238E27FC236}">
                <a16:creationId xmlns:a16="http://schemas.microsoft.com/office/drawing/2014/main" id="{2920E1DF-D576-B246-91B7-18B287016258}"/>
              </a:ext>
            </a:extLst>
          </p:cNvPr>
          <p:cNvSpPr/>
          <p:nvPr/>
        </p:nvSpPr>
        <p:spPr>
          <a:xfrm rot="5400000">
            <a:off x="7706276" y="412808"/>
            <a:ext cx="526992" cy="37259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47E00C8F-3E8F-3C41-856C-65F01166CE47}"/>
              </a:ext>
            </a:extLst>
          </p:cNvPr>
          <p:cNvSpPr txBox="1"/>
          <p:nvPr/>
        </p:nvSpPr>
        <p:spPr>
          <a:xfrm>
            <a:off x="6247850" y="1014951"/>
            <a:ext cx="3443844" cy="923330"/>
          </a:xfrm>
          <a:custGeom>
            <a:avLst/>
            <a:gdLst>
              <a:gd name="csX0" fmla="*/ 0 w 3443844"/>
              <a:gd name="csY0" fmla="*/ 0 h 923330"/>
              <a:gd name="csX1" fmla="*/ 654330 w 3443844"/>
              <a:gd name="csY1" fmla="*/ 0 h 923330"/>
              <a:gd name="csX2" fmla="*/ 1239784 w 3443844"/>
              <a:gd name="csY2" fmla="*/ 0 h 923330"/>
              <a:gd name="csX3" fmla="*/ 1997430 w 3443844"/>
              <a:gd name="csY3" fmla="*/ 0 h 923330"/>
              <a:gd name="csX4" fmla="*/ 2651760 w 3443844"/>
              <a:gd name="csY4" fmla="*/ 0 h 923330"/>
              <a:gd name="csX5" fmla="*/ 3443844 w 3443844"/>
              <a:gd name="csY5" fmla="*/ 0 h 923330"/>
              <a:gd name="csX6" fmla="*/ 3443844 w 3443844"/>
              <a:gd name="csY6" fmla="*/ 480132 h 923330"/>
              <a:gd name="csX7" fmla="*/ 3443844 w 3443844"/>
              <a:gd name="csY7" fmla="*/ 923330 h 923330"/>
              <a:gd name="csX8" fmla="*/ 2755075 w 3443844"/>
              <a:gd name="csY8" fmla="*/ 923330 h 923330"/>
              <a:gd name="csX9" fmla="*/ 2169622 w 3443844"/>
              <a:gd name="csY9" fmla="*/ 923330 h 923330"/>
              <a:gd name="csX10" fmla="*/ 1480853 w 3443844"/>
              <a:gd name="csY10" fmla="*/ 923330 h 923330"/>
              <a:gd name="csX11" fmla="*/ 792084 w 3443844"/>
              <a:gd name="csY11" fmla="*/ 923330 h 923330"/>
              <a:gd name="csX12" fmla="*/ 0 w 3443844"/>
              <a:gd name="csY12" fmla="*/ 923330 h 923330"/>
              <a:gd name="csX13" fmla="*/ 0 w 3443844"/>
              <a:gd name="csY13" fmla="*/ 443198 h 923330"/>
              <a:gd name="csX14" fmla="*/ 0 w 3443844"/>
              <a:gd name="csY14"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443844" h="923330" extrusionOk="0">
                <a:moveTo>
                  <a:pt x="0" y="0"/>
                </a:moveTo>
                <a:cubicBezTo>
                  <a:pt x="196711" y="-14763"/>
                  <a:pt x="375977" y="-11991"/>
                  <a:pt x="654330" y="0"/>
                </a:cubicBezTo>
                <a:cubicBezTo>
                  <a:pt x="932683" y="11991"/>
                  <a:pt x="998267" y="17756"/>
                  <a:pt x="1239784" y="0"/>
                </a:cubicBezTo>
                <a:cubicBezTo>
                  <a:pt x="1481301" y="-17756"/>
                  <a:pt x="1730824" y="-13423"/>
                  <a:pt x="1997430" y="0"/>
                </a:cubicBezTo>
                <a:cubicBezTo>
                  <a:pt x="2264036" y="13423"/>
                  <a:pt x="2465696" y="-8483"/>
                  <a:pt x="2651760" y="0"/>
                </a:cubicBezTo>
                <a:cubicBezTo>
                  <a:pt x="2837824" y="8483"/>
                  <a:pt x="3107914" y="22742"/>
                  <a:pt x="3443844" y="0"/>
                </a:cubicBezTo>
                <a:cubicBezTo>
                  <a:pt x="3421503" y="162923"/>
                  <a:pt x="3462410" y="370604"/>
                  <a:pt x="3443844" y="480132"/>
                </a:cubicBezTo>
                <a:cubicBezTo>
                  <a:pt x="3425278" y="589660"/>
                  <a:pt x="3430285" y="809124"/>
                  <a:pt x="3443844" y="923330"/>
                </a:cubicBezTo>
                <a:cubicBezTo>
                  <a:pt x="3130135" y="892137"/>
                  <a:pt x="3001939" y="955092"/>
                  <a:pt x="2755075" y="923330"/>
                </a:cubicBezTo>
                <a:cubicBezTo>
                  <a:pt x="2508211" y="891568"/>
                  <a:pt x="2412832" y="933031"/>
                  <a:pt x="2169622" y="923330"/>
                </a:cubicBezTo>
                <a:cubicBezTo>
                  <a:pt x="1926412" y="913629"/>
                  <a:pt x="1623392" y="929308"/>
                  <a:pt x="1480853" y="923330"/>
                </a:cubicBezTo>
                <a:cubicBezTo>
                  <a:pt x="1338314" y="917352"/>
                  <a:pt x="940160" y="894377"/>
                  <a:pt x="792084" y="923330"/>
                </a:cubicBezTo>
                <a:cubicBezTo>
                  <a:pt x="644008" y="952283"/>
                  <a:pt x="268064" y="958337"/>
                  <a:pt x="0" y="923330"/>
                </a:cubicBezTo>
                <a:cubicBezTo>
                  <a:pt x="-7219" y="714129"/>
                  <a:pt x="11942" y="562566"/>
                  <a:pt x="0" y="443198"/>
                </a:cubicBezTo>
                <a:cubicBezTo>
                  <a:pt x="-11942" y="323830"/>
                  <a:pt x="-11" y="89593"/>
                  <a:pt x="0" y="0"/>
                </a:cubicBezTo>
                <a:close/>
              </a:path>
            </a:pathLst>
          </a:custGeom>
          <a:noFill/>
          <a:ln>
            <a:solidFill>
              <a:schemeClr val="bg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rtlCol="0">
            <a:spAutoFit/>
          </a:bodyPr>
          <a:lstStyle/>
          <a:p>
            <a:r>
              <a:rPr lang="en-US" dirty="0">
                <a:solidFill>
                  <a:srgbClr val="002060"/>
                </a:solidFill>
              </a:rPr>
              <a:t>Customer is actively involved in planning and prioritizing work and provides frequent feedback</a:t>
            </a:r>
          </a:p>
        </p:txBody>
      </p:sp>
      <p:sp>
        <p:nvSpPr>
          <p:cNvPr id="8" name="Left Brace 7">
            <a:extLst>
              <a:ext uri="{FF2B5EF4-FFF2-40B4-BE49-F238E27FC236}">
                <a16:creationId xmlns:a16="http://schemas.microsoft.com/office/drawing/2014/main" id="{A3065B6C-BB89-3C49-82DA-AD452B0077C9}"/>
              </a:ext>
            </a:extLst>
          </p:cNvPr>
          <p:cNvSpPr/>
          <p:nvPr/>
        </p:nvSpPr>
        <p:spPr>
          <a:xfrm>
            <a:off x="2434442" y="3252103"/>
            <a:ext cx="201880" cy="5195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B22E09C6-5DEF-B342-91CB-7A10EE1D28A3}"/>
              </a:ext>
            </a:extLst>
          </p:cNvPr>
          <p:cNvSpPr/>
          <p:nvPr/>
        </p:nvSpPr>
        <p:spPr>
          <a:xfrm>
            <a:off x="6767154" y="3252103"/>
            <a:ext cx="201880" cy="51954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17118B5F-FE0E-C242-B809-9DDA0699FC7F}"/>
              </a:ext>
            </a:extLst>
          </p:cNvPr>
          <p:cNvSpPr txBox="1"/>
          <p:nvPr/>
        </p:nvSpPr>
        <p:spPr>
          <a:xfrm>
            <a:off x="628383" y="3188709"/>
            <a:ext cx="1722471" cy="646331"/>
          </a:xfrm>
          <a:custGeom>
            <a:avLst/>
            <a:gdLst>
              <a:gd name="csX0" fmla="*/ 0 w 1722471"/>
              <a:gd name="csY0" fmla="*/ 0 h 646331"/>
              <a:gd name="csX1" fmla="*/ 556932 w 1722471"/>
              <a:gd name="csY1" fmla="*/ 0 h 646331"/>
              <a:gd name="csX2" fmla="*/ 1079415 w 1722471"/>
              <a:gd name="csY2" fmla="*/ 0 h 646331"/>
              <a:gd name="csX3" fmla="*/ 1722471 w 1722471"/>
              <a:gd name="csY3" fmla="*/ 0 h 646331"/>
              <a:gd name="csX4" fmla="*/ 1722471 w 1722471"/>
              <a:gd name="csY4" fmla="*/ 646331 h 646331"/>
              <a:gd name="csX5" fmla="*/ 1182763 w 1722471"/>
              <a:gd name="csY5" fmla="*/ 646331 h 646331"/>
              <a:gd name="csX6" fmla="*/ 574157 w 1722471"/>
              <a:gd name="csY6" fmla="*/ 646331 h 646331"/>
              <a:gd name="csX7" fmla="*/ 0 w 1722471"/>
              <a:gd name="csY7" fmla="*/ 646331 h 646331"/>
              <a:gd name="csX8" fmla="*/ 0 w 1722471"/>
              <a:gd name="csY8"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22471" h="646331" extrusionOk="0">
                <a:moveTo>
                  <a:pt x="0" y="0"/>
                </a:moveTo>
                <a:cubicBezTo>
                  <a:pt x="269191" y="19801"/>
                  <a:pt x="281786" y="-23222"/>
                  <a:pt x="556932" y="0"/>
                </a:cubicBezTo>
                <a:cubicBezTo>
                  <a:pt x="832078" y="23222"/>
                  <a:pt x="930439" y="-11521"/>
                  <a:pt x="1079415" y="0"/>
                </a:cubicBezTo>
                <a:cubicBezTo>
                  <a:pt x="1228391" y="11521"/>
                  <a:pt x="1506518" y="-21578"/>
                  <a:pt x="1722471" y="0"/>
                </a:cubicBezTo>
                <a:cubicBezTo>
                  <a:pt x="1729436" y="174446"/>
                  <a:pt x="1709514" y="454538"/>
                  <a:pt x="1722471" y="646331"/>
                </a:cubicBezTo>
                <a:cubicBezTo>
                  <a:pt x="1471607" y="671954"/>
                  <a:pt x="1291698" y="622115"/>
                  <a:pt x="1182763" y="646331"/>
                </a:cubicBezTo>
                <a:cubicBezTo>
                  <a:pt x="1073828" y="670547"/>
                  <a:pt x="699992" y="662443"/>
                  <a:pt x="574157" y="646331"/>
                </a:cubicBezTo>
                <a:cubicBezTo>
                  <a:pt x="448322" y="630219"/>
                  <a:pt x="214437" y="621099"/>
                  <a:pt x="0" y="646331"/>
                </a:cubicBezTo>
                <a:cubicBezTo>
                  <a:pt x="-31026" y="499526"/>
                  <a:pt x="22584" y="204044"/>
                  <a:pt x="0" y="0"/>
                </a:cubicBezTo>
                <a:close/>
              </a:path>
            </a:pathLst>
          </a:custGeom>
          <a:noFill/>
          <a:ln>
            <a:solidFill>
              <a:schemeClr val="bg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rtlCol="0">
            <a:spAutoFit/>
          </a:bodyPr>
          <a:lstStyle/>
          <a:p>
            <a:pPr algn="ctr"/>
            <a:r>
              <a:rPr lang="en-US" dirty="0">
                <a:solidFill>
                  <a:srgbClr val="002060"/>
                </a:solidFill>
              </a:rPr>
              <a:t>How teams complete work</a:t>
            </a:r>
          </a:p>
        </p:txBody>
      </p:sp>
      <p:sp>
        <p:nvSpPr>
          <p:cNvPr id="10" name="Right Brace 9">
            <a:extLst>
              <a:ext uri="{FF2B5EF4-FFF2-40B4-BE49-F238E27FC236}">
                <a16:creationId xmlns:a16="http://schemas.microsoft.com/office/drawing/2014/main" id="{6718B5A9-AC79-5D43-B35C-3EC7096E1081}"/>
              </a:ext>
            </a:extLst>
          </p:cNvPr>
          <p:cNvSpPr/>
          <p:nvPr/>
        </p:nvSpPr>
        <p:spPr>
          <a:xfrm rot="5400000">
            <a:off x="5649335" y="1296152"/>
            <a:ext cx="480953" cy="669663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2C5C9765-0227-684E-B7B5-0A615FA47296}"/>
              </a:ext>
            </a:extLst>
          </p:cNvPr>
          <p:cNvSpPr txBox="1"/>
          <p:nvPr/>
        </p:nvSpPr>
        <p:spPr>
          <a:xfrm>
            <a:off x="3906130" y="5036334"/>
            <a:ext cx="3829794" cy="923330"/>
          </a:xfrm>
          <a:custGeom>
            <a:avLst/>
            <a:gdLst>
              <a:gd name="csX0" fmla="*/ 0 w 3829794"/>
              <a:gd name="csY0" fmla="*/ 0 h 923330"/>
              <a:gd name="csX1" fmla="*/ 600001 w 3829794"/>
              <a:gd name="csY1" fmla="*/ 0 h 923330"/>
              <a:gd name="csX2" fmla="*/ 1123406 w 3829794"/>
              <a:gd name="csY2" fmla="*/ 0 h 923330"/>
              <a:gd name="csX3" fmla="*/ 1838301 w 3829794"/>
              <a:gd name="csY3" fmla="*/ 0 h 923330"/>
              <a:gd name="csX4" fmla="*/ 2438302 w 3829794"/>
              <a:gd name="csY4" fmla="*/ 0 h 923330"/>
              <a:gd name="csX5" fmla="*/ 3038303 w 3829794"/>
              <a:gd name="csY5" fmla="*/ 0 h 923330"/>
              <a:gd name="csX6" fmla="*/ 3829794 w 3829794"/>
              <a:gd name="csY6" fmla="*/ 0 h 923330"/>
              <a:gd name="csX7" fmla="*/ 3829794 w 3829794"/>
              <a:gd name="csY7" fmla="*/ 443198 h 923330"/>
              <a:gd name="csX8" fmla="*/ 3829794 w 3829794"/>
              <a:gd name="csY8" fmla="*/ 923330 h 923330"/>
              <a:gd name="csX9" fmla="*/ 3268091 w 3829794"/>
              <a:gd name="csY9" fmla="*/ 923330 h 923330"/>
              <a:gd name="csX10" fmla="*/ 2629792 w 3829794"/>
              <a:gd name="csY10" fmla="*/ 923330 h 923330"/>
              <a:gd name="csX11" fmla="*/ 1991493 w 3829794"/>
              <a:gd name="csY11" fmla="*/ 923330 h 923330"/>
              <a:gd name="csX12" fmla="*/ 1391492 w 3829794"/>
              <a:gd name="csY12" fmla="*/ 923330 h 923330"/>
              <a:gd name="csX13" fmla="*/ 676597 w 3829794"/>
              <a:gd name="csY13" fmla="*/ 923330 h 923330"/>
              <a:gd name="csX14" fmla="*/ 0 w 3829794"/>
              <a:gd name="csY14" fmla="*/ 923330 h 923330"/>
              <a:gd name="csX15" fmla="*/ 0 w 3829794"/>
              <a:gd name="csY15" fmla="*/ 480132 h 923330"/>
              <a:gd name="csX16" fmla="*/ 0 w 3829794"/>
              <a:gd name="csY16"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29794" h="923330" extrusionOk="0">
                <a:moveTo>
                  <a:pt x="0" y="0"/>
                </a:moveTo>
                <a:cubicBezTo>
                  <a:pt x="279635" y="16722"/>
                  <a:pt x="434326" y="19062"/>
                  <a:pt x="600001" y="0"/>
                </a:cubicBezTo>
                <a:cubicBezTo>
                  <a:pt x="765676" y="-19062"/>
                  <a:pt x="978607" y="-10362"/>
                  <a:pt x="1123406" y="0"/>
                </a:cubicBezTo>
                <a:cubicBezTo>
                  <a:pt x="1268206" y="10362"/>
                  <a:pt x="1527432" y="31300"/>
                  <a:pt x="1838301" y="0"/>
                </a:cubicBezTo>
                <a:cubicBezTo>
                  <a:pt x="2149170" y="-31300"/>
                  <a:pt x="2310935" y="-20205"/>
                  <a:pt x="2438302" y="0"/>
                </a:cubicBezTo>
                <a:cubicBezTo>
                  <a:pt x="2565669" y="20205"/>
                  <a:pt x="2788446" y="-17424"/>
                  <a:pt x="3038303" y="0"/>
                </a:cubicBezTo>
                <a:cubicBezTo>
                  <a:pt x="3288160" y="17424"/>
                  <a:pt x="3532490" y="27855"/>
                  <a:pt x="3829794" y="0"/>
                </a:cubicBezTo>
                <a:cubicBezTo>
                  <a:pt x="3828239" y="188300"/>
                  <a:pt x="3816235" y="328992"/>
                  <a:pt x="3829794" y="443198"/>
                </a:cubicBezTo>
                <a:cubicBezTo>
                  <a:pt x="3843353" y="557404"/>
                  <a:pt x="3821922" y="805706"/>
                  <a:pt x="3829794" y="923330"/>
                </a:cubicBezTo>
                <a:cubicBezTo>
                  <a:pt x="3575824" y="938923"/>
                  <a:pt x="3418898" y="930212"/>
                  <a:pt x="3268091" y="923330"/>
                </a:cubicBezTo>
                <a:cubicBezTo>
                  <a:pt x="3117284" y="916448"/>
                  <a:pt x="2844708" y="927741"/>
                  <a:pt x="2629792" y="923330"/>
                </a:cubicBezTo>
                <a:cubicBezTo>
                  <a:pt x="2414876" y="918919"/>
                  <a:pt x="2186819" y="905277"/>
                  <a:pt x="1991493" y="923330"/>
                </a:cubicBezTo>
                <a:cubicBezTo>
                  <a:pt x="1796167" y="941383"/>
                  <a:pt x="1521017" y="908857"/>
                  <a:pt x="1391492" y="923330"/>
                </a:cubicBezTo>
                <a:cubicBezTo>
                  <a:pt x="1261967" y="937803"/>
                  <a:pt x="885003" y="906859"/>
                  <a:pt x="676597" y="923330"/>
                </a:cubicBezTo>
                <a:cubicBezTo>
                  <a:pt x="468192" y="939801"/>
                  <a:pt x="210487" y="949008"/>
                  <a:pt x="0" y="923330"/>
                </a:cubicBezTo>
                <a:cubicBezTo>
                  <a:pt x="-7505" y="782128"/>
                  <a:pt x="19999" y="625898"/>
                  <a:pt x="0" y="480132"/>
                </a:cubicBezTo>
                <a:cubicBezTo>
                  <a:pt x="-19999" y="334366"/>
                  <a:pt x="-20823" y="124121"/>
                  <a:pt x="0" y="0"/>
                </a:cubicBezTo>
                <a:close/>
              </a:path>
            </a:pathLst>
          </a:custGeom>
          <a:noFill/>
          <a:ln>
            <a:solidFill>
              <a:schemeClr val="bg1"/>
            </a:solidFill>
            <a:extLst>
              <a:ext uri="{C807C97D-BFC1-408E-A445-0C87EB9F89A2}">
                <ask:lineSketchStyleProps xmlns:ask="http://schemas.microsoft.com/office/drawing/2018/sketchyshapes" sd="1219033472">
                  <a:prstGeom prst="rect">
                    <a:avLst/>
                  </a:prstGeom>
                  <ask:type>
                    <ask:lineSketchFreehand/>
                  </ask:type>
                </ask:lineSketchStyleProps>
              </a:ext>
            </a:extLst>
          </a:ln>
        </p:spPr>
        <p:txBody>
          <a:bodyPr wrap="square" rtlCol="0">
            <a:spAutoFit/>
          </a:bodyPr>
          <a:lstStyle/>
          <a:p>
            <a:pPr algn="ctr"/>
            <a:r>
              <a:rPr lang="en-US" dirty="0">
                <a:solidFill>
                  <a:srgbClr val="002060"/>
                </a:solidFill>
              </a:rPr>
              <a:t>Instead of just delivering a final product all at once there is a regular cadence of feature delivery</a:t>
            </a:r>
          </a:p>
        </p:txBody>
      </p:sp>
    </p:spTree>
    <p:extLst>
      <p:ext uri="{BB962C8B-B14F-4D97-AF65-F5344CB8AC3E}">
        <p14:creationId xmlns:p14="http://schemas.microsoft.com/office/powerpoint/2010/main" val="28097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3D8CC3-AEE7-3B4D-A81B-7AA993B18E10}"/>
              </a:ext>
            </a:extLst>
          </p:cNvPr>
          <p:cNvSpPr>
            <a:spLocks noGrp="1"/>
          </p:cNvSpPr>
          <p:nvPr>
            <p:ph type="ctrTitle"/>
          </p:nvPr>
        </p:nvSpPr>
        <p:spPr/>
        <p:txBody>
          <a:bodyPr/>
          <a:lstStyle/>
          <a:p>
            <a:r>
              <a:rPr lang="en-US" dirty="0"/>
              <a:t>Roles in Agile</a:t>
            </a:r>
          </a:p>
        </p:txBody>
      </p:sp>
      <p:sp>
        <p:nvSpPr>
          <p:cNvPr id="4" name="Date Placeholder 3">
            <a:extLst>
              <a:ext uri="{FF2B5EF4-FFF2-40B4-BE49-F238E27FC236}">
                <a16:creationId xmlns:a16="http://schemas.microsoft.com/office/drawing/2014/main" id="{C4CC5C35-1F79-514F-A8FA-39CD684FF17E}"/>
              </a:ext>
            </a:extLst>
          </p:cNvPr>
          <p:cNvSpPr>
            <a:spLocks noGrp="1"/>
          </p:cNvSpPr>
          <p:nvPr>
            <p:ph type="dt" sz="half" idx="2"/>
          </p:nvPr>
        </p:nvSpPr>
        <p:spPr/>
        <p:txBody>
          <a:bodyPr/>
          <a:lstStyle/>
          <a:p>
            <a:fld id="{049DC8E1-D369-0F48-9062-BB068AFD07CE}" type="datetime1">
              <a:rPr lang="en-US" smtClean="0"/>
              <a:pPr/>
              <a:t>8/17/26</a:t>
            </a:fld>
            <a:endParaRPr lang="en-US" dirty="0"/>
          </a:p>
        </p:txBody>
      </p:sp>
      <p:sp>
        <p:nvSpPr>
          <p:cNvPr id="5" name="Slide Number Placeholder 4">
            <a:extLst>
              <a:ext uri="{FF2B5EF4-FFF2-40B4-BE49-F238E27FC236}">
                <a16:creationId xmlns:a16="http://schemas.microsoft.com/office/drawing/2014/main" id="{B99A996E-810D-5A4B-B99F-EE6DF6EC35D6}"/>
              </a:ext>
            </a:extLst>
          </p:cNvPr>
          <p:cNvSpPr>
            <a:spLocks noGrp="1"/>
          </p:cNvSpPr>
          <p:nvPr>
            <p:ph type="sldNum" sz="quarter" idx="4"/>
          </p:nvPr>
        </p:nvSpPr>
        <p:spPr/>
        <p:txBody>
          <a:bodyPr/>
          <a:lstStyle/>
          <a:p>
            <a:fld id="{8A7A6979-0714-4377-B894-6BE4C2D6E202}" type="slidenum">
              <a:rPr lang="en-US" smtClean="0"/>
              <a:pPr/>
              <a:t>3</a:t>
            </a:fld>
            <a:endParaRPr lang="en-US" dirty="0"/>
          </a:p>
        </p:txBody>
      </p:sp>
      <p:sp>
        <p:nvSpPr>
          <p:cNvPr id="11" name="TextBox 10">
            <a:extLst>
              <a:ext uri="{FF2B5EF4-FFF2-40B4-BE49-F238E27FC236}">
                <a16:creationId xmlns:a16="http://schemas.microsoft.com/office/drawing/2014/main" id="{DA24A541-A57E-E540-AC2F-6ADC5E74D05B}"/>
              </a:ext>
            </a:extLst>
          </p:cNvPr>
          <p:cNvSpPr txBox="1"/>
          <p:nvPr/>
        </p:nvSpPr>
        <p:spPr>
          <a:xfrm>
            <a:off x="1126042" y="3063006"/>
            <a:ext cx="3031341" cy="2031325"/>
          </a:xfrm>
          <a:prstGeom prst="rect">
            <a:avLst/>
          </a:prstGeom>
          <a:noFill/>
        </p:spPr>
        <p:txBody>
          <a:bodyPr wrap="square" rtlCol="0">
            <a:spAutoFit/>
          </a:bodyPr>
          <a:lstStyle/>
          <a:p>
            <a:r>
              <a:rPr lang="en-US" dirty="0"/>
              <a:t>Product owner:</a:t>
            </a:r>
          </a:p>
          <a:p>
            <a:pPr marL="285750" indent="-285750">
              <a:buFont typeface="Arial" panose="020B0604020202020204" pitchFamily="34" charset="0"/>
              <a:buChar char="•"/>
            </a:pPr>
            <a:r>
              <a:rPr lang="en-US" dirty="0"/>
              <a:t>Represents the customer</a:t>
            </a:r>
          </a:p>
          <a:p>
            <a:pPr marL="285750" indent="-285750">
              <a:buFont typeface="Arial" panose="020B0604020202020204" pitchFamily="34" charset="0"/>
              <a:buChar char="•"/>
            </a:pPr>
            <a:r>
              <a:rPr lang="en-US" dirty="0"/>
              <a:t>Develops and prioritizes user stories (features the customer wants in the product)</a:t>
            </a:r>
          </a:p>
          <a:p>
            <a:pPr marL="285750" indent="-285750">
              <a:buFont typeface="Arial" panose="020B0604020202020204" pitchFamily="34" charset="0"/>
              <a:buChar char="•"/>
            </a:pPr>
            <a:r>
              <a:rPr lang="en-US" dirty="0"/>
              <a:t>Accepts and rejects work</a:t>
            </a:r>
          </a:p>
        </p:txBody>
      </p:sp>
      <p:pic>
        <p:nvPicPr>
          <p:cNvPr id="3" name="Graphic 2" descr="User with solid fill">
            <a:extLst>
              <a:ext uri="{FF2B5EF4-FFF2-40B4-BE49-F238E27FC236}">
                <a16:creationId xmlns:a16="http://schemas.microsoft.com/office/drawing/2014/main" id="{A0CB1A0D-7640-4448-8855-1F8B750F4F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85319" y="2017148"/>
            <a:ext cx="914400" cy="914400"/>
          </a:xfrm>
          <a:prstGeom prst="rect">
            <a:avLst/>
          </a:prstGeom>
        </p:spPr>
      </p:pic>
      <p:grpSp>
        <p:nvGrpSpPr>
          <p:cNvPr id="17" name="Group 16">
            <a:extLst>
              <a:ext uri="{FF2B5EF4-FFF2-40B4-BE49-F238E27FC236}">
                <a16:creationId xmlns:a16="http://schemas.microsoft.com/office/drawing/2014/main" id="{BC52A336-AD0A-0947-8663-84A4C66BA87A}"/>
              </a:ext>
            </a:extLst>
          </p:cNvPr>
          <p:cNvGrpSpPr/>
          <p:nvPr/>
        </p:nvGrpSpPr>
        <p:grpSpPr>
          <a:xfrm>
            <a:off x="8281025" y="1974099"/>
            <a:ext cx="2601051" cy="957449"/>
            <a:chOff x="7093164" y="2471551"/>
            <a:chExt cx="2601051" cy="957449"/>
          </a:xfrm>
        </p:grpSpPr>
        <p:pic>
          <p:nvPicPr>
            <p:cNvPr id="8" name="Graphic 7" descr="Programmer female with solid fill">
              <a:extLst>
                <a:ext uri="{FF2B5EF4-FFF2-40B4-BE49-F238E27FC236}">
                  <a16:creationId xmlns:a16="http://schemas.microsoft.com/office/drawing/2014/main" id="{EB32F9CA-6423-F240-B113-4C37F45800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17598" y="2471551"/>
              <a:ext cx="914400" cy="914400"/>
            </a:xfrm>
            <a:prstGeom prst="rect">
              <a:avLst/>
            </a:prstGeom>
          </p:spPr>
        </p:pic>
        <p:grpSp>
          <p:nvGrpSpPr>
            <p:cNvPr id="16" name="Group 15">
              <a:extLst>
                <a:ext uri="{FF2B5EF4-FFF2-40B4-BE49-F238E27FC236}">
                  <a16:creationId xmlns:a16="http://schemas.microsoft.com/office/drawing/2014/main" id="{5DB14112-9768-1642-A0C5-F203C962287B}"/>
                </a:ext>
              </a:extLst>
            </p:cNvPr>
            <p:cNvGrpSpPr/>
            <p:nvPr/>
          </p:nvGrpSpPr>
          <p:grpSpPr>
            <a:xfrm>
              <a:off x="7093164" y="2471551"/>
              <a:ext cx="2601051" cy="957449"/>
              <a:chOff x="7093164" y="1518162"/>
              <a:chExt cx="2601051" cy="957449"/>
            </a:xfrm>
          </p:grpSpPr>
          <p:pic>
            <p:nvPicPr>
              <p:cNvPr id="10" name="Graphic 9" descr="Programmer female outline">
                <a:extLst>
                  <a:ext uri="{FF2B5EF4-FFF2-40B4-BE49-F238E27FC236}">
                    <a16:creationId xmlns:a16="http://schemas.microsoft.com/office/drawing/2014/main" id="{34A93575-8AC5-5048-8433-94101A8E22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55381" y="1549027"/>
                <a:ext cx="914400" cy="914400"/>
              </a:xfrm>
              <a:prstGeom prst="rect">
                <a:avLst/>
              </a:prstGeom>
            </p:spPr>
          </p:pic>
          <p:pic>
            <p:nvPicPr>
              <p:cNvPr id="13" name="Graphic 12" descr="Programmer male with solid fill">
                <a:extLst>
                  <a:ext uri="{FF2B5EF4-FFF2-40B4-BE49-F238E27FC236}">
                    <a16:creationId xmlns:a16="http://schemas.microsoft.com/office/drawing/2014/main" id="{6BDF7489-D3A3-1A47-9945-79CA5F07C31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93164" y="1518162"/>
                <a:ext cx="914400" cy="914400"/>
              </a:xfrm>
              <a:prstGeom prst="rect">
                <a:avLst/>
              </a:prstGeom>
            </p:spPr>
          </p:pic>
          <p:pic>
            <p:nvPicPr>
              <p:cNvPr id="15" name="Graphic 14" descr="Programmer male outline">
                <a:extLst>
                  <a:ext uri="{FF2B5EF4-FFF2-40B4-BE49-F238E27FC236}">
                    <a16:creationId xmlns:a16="http://schemas.microsoft.com/office/drawing/2014/main" id="{2BDC0EAE-653B-0D4C-8907-0977EF4427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79815" y="1561211"/>
                <a:ext cx="914400" cy="914400"/>
              </a:xfrm>
              <a:prstGeom prst="rect">
                <a:avLst/>
              </a:prstGeom>
            </p:spPr>
          </p:pic>
        </p:grpSp>
      </p:grpSp>
      <p:sp>
        <p:nvSpPr>
          <p:cNvPr id="18" name="TextBox 17">
            <a:extLst>
              <a:ext uri="{FF2B5EF4-FFF2-40B4-BE49-F238E27FC236}">
                <a16:creationId xmlns:a16="http://schemas.microsoft.com/office/drawing/2014/main" id="{D0EAE3D6-9A9A-F24B-A2E7-90A1774B3C60}"/>
              </a:ext>
            </a:extLst>
          </p:cNvPr>
          <p:cNvSpPr txBox="1"/>
          <p:nvPr/>
        </p:nvSpPr>
        <p:spPr>
          <a:xfrm>
            <a:off x="7943894" y="3063006"/>
            <a:ext cx="3167896" cy="1754326"/>
          </a:xfrm>
          <a:prstGeom prst="rect">
            <a:avLst/>
          </a:prstGeom>
          <a:noFill/>
        </p:spPr>
        <p:txBody>
          <a:bodyPr wrap="square" rtlCol="0">
            <a:spAutoFit/>
          </a:bodyPr>
          <a:lstStyle/>
          <a:p>
            <a:r>
              <a:rPr lang="en-US" dirty="0"/>
              <a:t>Developers:</a:t>
            </a:r>
          </a:p>
          <a:p>
            <a:pPr marL="285750" indent="-285750">
              <a:buFont typeface="Arial" panose="020B0604020202020204" pitchFamily="34" charset="0"/>
              <a:buChar char="•"/>
            </a:pPr>
            <a:r>
              <a:rPr lang="en-US" dirty="0"/>
              <a:t>Responsible for delivering features</a:t>
            </a:r>
          </a:p>
          <a:p>
            <a:pPr marL="285750" indent="-285750">
              <a:buFont typeface="Arial" panose="020B0604020202020204" pitchFamily="34" charset="0"/>
              <a:buChar char="•"/>
            </a:pPr>
            <a:r>
              <a:rPr lang="en-US" dirty="0"/>
              <a:t>Work cross-functionally with other members of the development team</a:t>
            </a:r>
          </a:p>
        </p:txBody>
      </p:sp>
      <p:pic>
        <p:nvPicPr>
          <p:cNvPr id="20" name="Graphic 19" descr="Captain male with solid fill">
            <a:extLst>
              <a:ext uri="{FF2B5EF4-FFF2-40B4-BE49-F238E27FC236}">
                <a16:creationId xmlns:a16="http://schemas.microsoft.com/office/drawing/2014/main" id="{31019803-FDAF-5145-8678-3009577E70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42323" y="1974099"/>
            <a:ext cx="914400" cy="914400"/>
          </a:xfrm>
          <a:prstGeom prst="rect">
            <a:avLst/>
          </a:prstGeom>
        </p:spPr>
      </p:pic>
      <p:sp>
        <p:nvSpPr>
          <p:cNvPr id="21" name="TextBox 20">
            <a:extLst>
              <a:ext uri="{FF2B5EF4-FFF2-40B4-BE49-F238E27FC236}">
                <a16:creationId xmlns:a16="http://schemas.microsoft.com/office/drawing/2014/main" id="{E53E5738-AC76-E24C-95DD-D8A2459B7993}"/>
              </a:ext>
            </a:extLst>
          </p:cNvPr>
          <p:cNvSpPr txBox="1"/>
          <p:nvPr/>
        </p:nvSpPr>
        <p:spPr>
          <a:xfrm>
            <a:off x="4591102" y="3063006"/>
            <a:ext cx="3031341" cy="2031325"/>
          </a:xfrm>
          <a:prstGeom prst="rect">
            <a:avLst/>
          </a:prstGeom>
          <a:noFill/>
        </p:spPr>
        <p:txBody>
          <a:bodyPr wrap="square" rtlCol="0">
            <a:spAutoFit/>
          </a:bodyPr>
          <a:lstStyle/>
          <a:p>
            <a:r>
              <a:rPr lang="en-US" dirty="0"/>
              <a:t>Scrum Master:</a:t>
            </a:r>
          </a:p>
          <a:p>
            <a:pPr marL="285750" indent="-285750">
              <a:buFont typeface="Arial" panose="020B0604020202020204" pitchFamily="34" charset="0"/>
              <a:buChar char="•"/>
            </a:pPr>
            <a:r>
              <a:rPr lang="en-US" dirty="0"/>
              <a:t>Organizes work on the development team</a:t>
            </a:r>
          </a:p>
          <a:p>
            <a:pPr marL="285750" indent="-285750">
              <a:buFont typeface="Arial" panose="020B0604020202020204" pitchFamily="34" charset="0"/>
              <a:buChar char="•"/>
            </a:pPr>
            <a:r>
              <a:rPr lang="en-US" dirty="0"/>
              <a:t>Ensures communication between roles</a:t>
            </a:r>
          </a:p>
          <a:p>
            <a:pPr marL="285750" indent="-285750">
              <a:buFont typeface="Arial" panose="020B0604020202020204" pitchFamily="34" charset="0"/>
              <a:buChar char="•"/>
            </a:pPr>
            <a:r>
              <a:rPr lang="en-US" dirty="0"/>
              <a:t>Removes bureaucratic barriers</a:t>
            </a:r>
          </a:p>
        </p:txBody>
      </p:sp>
    </p:spTree>
    <p:extLst>
      <p:ext uri="{BB962C8B-B14F-4D97-AF65-F5344CB8AC3E}">
        <p14:creationId xmlns:p14="http://schemas.microsoft.com/office/powerpoint/2010/main" val="664078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3D8CC3-AEE7-3B4D-A81B-7AA993B18E10}"/>
              </a:ext>
            </a:extLst>
          </p:cNvPr>
          <p:cNvSpPr>
            <a:spLocks noGrp="1"/>
          </p:cNvSpPr>
          <p:nvPr>
            <p:ph type="ctrTitle"/>
          </p:nvPr>
        </p:nvSpPr>
        <p:spPr/>
        <p:txBody>
          <a:bodyPr/>
          <a:lstStyle/>
          <a:p>
            <a:r>
              <a:rPr lang="en-US" dirty="0"/>
              <a:t>Sprint Cycles</a:t>
            </a:r>
          </a:p>
        </p:txBody>
      </p:sp>
      <p:sp>
        <p:nvSpPr>
          <p:cNvPr id="4" name="Date Placeholder 3">
            <a:extLst>
              <a:ext uri="{FF2B5EF4-FFF2-40B4-BE49-F238E27FC236}">
                <a16:creationId xmlns:a16="http://schemas.microsoft.com/office/drawing/2014/main" id="{C4CC5C35-1F79-514F-A8FA-39CD684FF17E}"/>
              </a:ext>
            </a:extLst>
          </p:cNvPr>
          <p:cNvSpPr>
            <a:spLocks noGrp="1"/>
          </p:cNvSpPr>
          <p:nvPr>
            <p:ph type="dt" sz="half" idx="2"/>
          </p:nvPr>
        </p:nvSpPr>
        <p:spPr/>
        <p:txBody>
          <a:bodyPr/>
          <a:lstStyle/>
          <a:p>
            <a:fld id="{049DC8E1-D369-0F48-9062-BB068AFD07CE}" type="datetime1">
              <a:rPr lang="en-US" smtClean="0"/>
              <a:pPr/>
              <a:t>8/17/26</a:t>
            </a:fld>
            <a:endParaRPr lang="en-US" dirty="0"/>
          </a:p>
        </p:txBody>
      </p:sp>
      <p:sp>
        <p:nvSpPr>
          <p:cNvPr id="5" name="Slide Number Placeholder 4">
            <a:extLst>
              <a:ext uri="{FF2B5EF4-FFF2-40B4-BE49-F238E27FC236}">
                <a16:creationId xmlns:a16="http://schemas.microsoft.com/office/drawing/2014/main" id="{B99A996E-810D-5A4B-B99F-EE6DF6EC35D6}"/>
              </a:ext>
            </a:extLst>
          </p:cNvPr>
          <p:cNvSpPr>
            <a:spLocks noGrp="1"/>
          </p:cNvSpPr>
          <p:nvPr>
            <p:ph type="sldNum" sz="quarter" idx="4"/>
          </p:nvPr>
        </p:nvSpPr>
        <p:spPr/>
        <p:txBody>
          <a:bodyPr/>
          <a:lstStyle/>
          <a:p>
            <a:fld id="{8A7A6979-0714-4377-B894-6BE4C2D6E202}" type="slidenum">
              <a:rPr lang="en-US" smtClean="0"/>
              <a:pPr/>
              <a:t>4</a:t>
            </a:fld>
            <a:endParaRPr lang="en-US" dirty="0"/>
          </a:p>
        </p:txBody>
      </p:sp>
      <p:sp>
        <p:nvSpPr>
          <p:cNvPr id="11" name="TextBox 10">
            <a:extLst>
              <a:ext uri="{FF2B5EF4-FFF2-40B4-BE49-F238E27FC236}">
                <a16:creationId xmlns:a16="http://schemas.microsoft.com/office/drawing/2014/main" id="{DA24A541-A57E-E540-AC2F-6ADC5E74D05B}"/>
              </a:ext>
            </a:extLst>
          </p:cNvPr>
          <p:cNvSpPr txBox="1"/>
          <p:nvPr/>
        </p:nvSpPr>
        <p:spPr>
          <a:xfrm>
            <a:off x="811480" y="4980476"/>
            <a:ext cx="10569039" cy="923330"/>
          </a:xfrm>
          <a:prstGeom prst="rect">
            <a:avLst/>
          </a:prstGeom>
          <a:noFill/>
        </p:spPr>
        <p:txBody>
          <a:bodyPr wrap="square" rtlCol="0">
            <a:spAutoFit/>
          </a:bodyPr>
          <a:lstStyle/>
          <a:p>
            <a:endParaRPr lang="en-US" dirty="0"/>
          </a:p>
          <a:p>
            <a:r>
              <a:rPr lang="en-US" dirty="0"/>
              <a:t>* All Data Mine Corporate Partner projects will utilize an Agile framework this year; grades will be primarily based on your performance during sprints </a:t>
            </a:r>
          </a:p>
        </p:txBody>
      </p:sp>
      <p:graphicFrame>
        <p:nvGraphicFramePr>
          <p:cNvPr id="14" name="Diagram 13">
            <a:extLst>
              <a:ext uri="{FF2B5EF4-FFF2-40B4-BE49-F238E27FC236}">
                <a16:creationId xmlns:a16="http://schemas.microsoft.com/office/drawing/2014/main" id="{EBC504ED-90E0-7E4F-A01B-806B3DEADAFC}"/>
              </a:ext>
            </a:extLst>
          </p:cNvPr>
          <p:cNvGraphicFramePr/>
          <p:nvPr>
            <p:extLst>
              <p:ext uri="{D42A27DB-BD31-4B8C-83A1-F6EECF244321}">
                <p14:modId xmlns:p14="http://schemas.microsoft.com/office/powerpoint/2010/main" val="2975200694"/>
              </p:ext>
            </p:extLst>
          </p:nvPr>
        </p:nvGraphicFramePr>
        <p:xfrm>
          <a:off x="811480" y="485139"/>
          <a:ext cx="1071264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256279EE-86E3-00D8-DDCB-407C241791C0}"/>
              </a:ext>
            </a:extLst>
          </p:cNvPr>
          <p:cNvSpPr txBox="1"/>
          <p:nvPr/>
        </p:nvSpPr>
        <p:spPr>
          <a:xfrm>
            <a:off x="596348" y="5128591"/>
            <a:ext cx="10402956" cy="775215"/>
          </a:xfrm>
          <a:prstGeom prst="rect">
            <a:avLst/>
          </a:prstGeom>
          <a:solidFill>
            <a:schemeClr val="accent4"/>
          </a:solidFill>
        </p:spPr>
        <p:txBody>
          <a:bodyPr wrap="square" rtlCol="0">
            <a:spAutoFit/>
          </a:bodyPr>
          <a:lstStyle/>
          <a:p>
            <a:endParaRPr lang="en-US" dirty="0"/>
          </a:p>
        </p:txBody>
      </p:sp>
    </p:spTree>
    <p:extLst>
      <p:ext uri="{BB962C8B-B14F-4D97-AF65-F5344CB8AC3E}">
        <p14:creationId xmlns:p14="http://schemas.microsoft.com/office/powerpoint/2010/main" val="62913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3D8CC3-AEE7-3B4D-A81B-7AA993B18E10}"/>
              </a:ext>
            </a:extLst>
          </p:cNvPr>
          <p:cNvSpPr>
            <a:spLocks noGrp="1"/>
          </p:cNvSpPr>
          <p:nvPr>
            <p:ph type="ctrTitle"/>
          </p:nvPr>
        </p:nvSpPr>
        <p:spPr/>
        <p:txBody>
          <a:bodyPr/>
          <a:lstStyle/>
          <a:p>
            <a:r>
              <a:rPr lang="en-US" dirty="0"/>
              <a:t>Agile Basics</a:t>
            </a:r>
          </a:p>
        </p:txBody>
      </p:sp>
      <p:sp>
        <p:nvSpPr>
          <p:cNvPr id="4" name="Date Placeholder 3">
            <a:extLst>
              <a:ext uri="{FF2B5EF4-FFF2-40B4-BE49-F238E27FC236}">
                <a16:creationId xmlns:a16="http://schemas.microsoft.com/office/drawing/2014/main" id="{C4CC5C35-1F79-514F-A8FA-39CD684FF17E}"/>
              </a:ext>
            </a:extLst>
          </p:cNvPr>
          <p:cNvSpPr>
            <a:spLocks noGrp="1"/>
          </p:cNvSpPr>
          <p:nvPr>
            <p:ph type="dt" sz="half" idx="2"/>
          </p:nvPr>
        </p:nvSpPr>
        <p:spPr/>
        <p:txBody>
          <a:bodyPr/>
          <a:lstStyle/>
          <a:p>
            <a:fld id="{049DC8E1-D369-0F48-9062-BB068AFD07CE}" type="datetime1">
              <a:rPr lang="en-US" smtClean="0"/>
              <a:pPr/>
              <a:t>8/17/26</a:t>
            </a:fld>
            <a:endParaRPr lang="en-US" dirty="0"/>
          </a:p>
        </p:txBody>
      </p:sp>
      <p:sp>
        <p:nvSpPr>
          <p:cNvPr id="5" name="Slide Number Placeholder 4">
            <a:extLst>
              <a:ext uri="{FF2B5EF4-FFF2-40B4-BE49-F238E27FC236}">
                <a16:creationId xmlns:a16="http://schemas.microsoft.com/office/drawing/2014/main" id="{B99A996E-810D-5A4B-B99F-EE6DF6EC35D6}"/>
              </a:ext>
            </a:extLst>
          </p:cNvPr>
          <p:cNvSpPr>
            <a:spLocks noGrp="1"/>
          </p:cNvSpPr>
          <p:nvPr>
            <p:ph type="sldNum" sz="quarter" idx="4"/>
          </p:nvPr>
        </p:nvSpPr>
        <p:spPr/>
        <p:txBody>
          <a:bodyPr/>
          <a:lstStyle/>
          <a:p>
            <a:fld id="{8A7A6979-0714-4377-B894-6BE4C2D6E202}" type="slidenum">
              <a:rPr lang="en-US" smtClean="0"/>
              <a:pPr/>
              <a:t>5</a:t>
            </a:fld>
            <a:endParaRPr lang="en-US" dirty="0"/>
          </a:p>
        </p:txBody>
      </p:sp>
      <p:pic>
        <p:nvPicPr>
          <p:cNvPr id="1030" name="Picture 6">
            <a:extLst>
              <a:ext uri="{FF2B5EF4-FFF2-40B4-BE49-F238E27FC236}">
                <a16:creationId xmlns:a16="http://schemas.microsoft.com/office/drawing/2014/main" id="{C7DB15DD-EF06-FC44-977D-AE2684DDF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1247" y="1165788"/>
            <a:ext cx="6711052" cy="452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88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3354486-2A6A-DD4E-9A8D-861B2E201A1F}"/>
              </a:ext>
            </a:extLst>
          </p:cNvPr>
          <p:cNvSpPr>
            <a:spLocks noGrp="1"/>
          </p:cNvSpPr>
          <p:nvPr>
            <p:ph type="ctrTitle"/>
          </p:nvPr>
        </p:nvSpPr>
        <p:spPr>
          <a:xfrm>
            <a:off x="1452193" y="2586461"/>
            <a:ext cx="7334529" cy="854080"/>
          </a:xfrm>
        </p:spPr>
        <p:txBody>
          <a:bodyPr/>
          <a:lstStyle/>
          <a:p>
            <a:r>
              <a:rPr lang="en-US" dirty="0"/>
              <a:t>Lego agile activity</a:t>
            </a:r>
          </a:p>
        </p:txBody>
      </p:sp>
      <p:sp>
        <p:nvSpPr>
          <p:cNvPr id="4" name="Date">
            <a:extLst>
              <a:ext uri="{FF2B5EF4-FFF2-40B4-BE49-F238E27FC236}">
                <a16:creationId xmlns:a16="http://schemas.microsoft.com/office/drawing/2014/main" id="{0B04DDC6-A6C5-6D40-8160-BEDB0CF8C6DD}"/>
              </a:ext>
            </a:extLst>
          </p:cNvPr>
          <p:cNvSpPr>
            <a:spLocks noGrp="1"/>
          </p:cNvSpPr>
          <p:nvPr>
            <p:ph type="dt" sz="half" idx="10"/>
          </p:nvPr>
        </p:nvSpPr>
        <p:spPr/>
        <p:txBody>
          <a:bodyPr/>
          <a:lstStyle/>
          <a:p>
            <a:fld id="{049DC8E1-D369-0F48-9062-BB068AFD07CE}" type="datetime1">
              <a:rPr lang="en-US" smtClean="0"/>
              <a:pPr/>
              <a:t>8/17/26</a:t>
            </a:fld>
            <a:endParaRPr lang="en-US" dirty="0"/>
          </a:p>
        </p:txBody>
      </p:sp>
      <p:sp>
        <p:nvSpPr>
          <p:cNvPr id="5" name="Slide Number">
            <a:extLst>
              <a:ext uri="{FF2B5EF4-FFF2-40B4-BE49-F238E27FC236}">
                <a16:creationId xmlns:a16="http://schemas.microsoft.com/office/drawing/2014/main" id="{B05C2BE5-BF22-EF46-A621-4EB44D385B5E}"/>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4055378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05C2BE5-BF22-EF46-A621-4EB44D385B5E}"/>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
        <p:nvSpPr>
          <p:cNvPr id="7" name="Rectangle 6">
            <a:extLst>
              <a:ext uri="{FF2B5EF4-FFF2-40B4-BE49-F238E27FC236}">
                <a16:creationId xmlns:a16="http://schemas.microsoft.com/office/drawing/2014/main" id="{472B5497-655E-6842-93A8-58BE41F1EB9C}"/>
              </a:ext>
            </a:extLst>
          </p:cNvPr>
          <p:cNvSpPr/>
          <p:nvPr/>
        </p:nvSpPr>
        <p:spPr>
          <a:xfrm>
            <a:off x="2541494" y="2635624"/>
            <a:ext cx="7167282" cy="79337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03354486-2A6A-DD4E-9A8D-861B2E201A1F}"/>
              </a:ext>
            </a:extLst>
          </p:cNvPr>
          <p:cNvSpPr>
            <a:spLocks noGrp="1"/>
          </p:cNvSpPr>
          <p:nvPr>
            <p:ph type="ctrTitle"/>
          </p:nvPr>
        </p:nvSpPr>
        <p:spPr>
          <a:xfrm>
            <a:off x="979356" y="467701"/>
            <a:ext cx="10291557" cy="914096"/>
          </a:xfrm>
        </p:spPr>
        <p:txBody>
          <a:bodyPr/>
          <a:lstStyle/>
          <a:p>
            <a:r>
              <a:rPr lang="en-US" sz="6600" dirty="0">
                <a:solidFill>
                  <a:sysClr val="windowText" lastClr="000000"/>
                </a:solidFill>
                <a:latin typeface="Franklin Gothic Medium Cond" panose="020B0606030402020204" pitchFamily="34" charset="0"/>
              </a:rPr>
              <a:t>Task: Design and build</a:t>
            </a:r>
          </a:p>
        </p:txBody>
      </p:sp>
      <p:sp>
        <p:nvSpPr>
          <p:cNvPr id="6" name="TextBox 5">
            <a:extLst>
              <a:ext uri="{FF2B5EF4-FFF2-40B4-BE49-F238E27FC236}">
                <a16:creationId xmlns:a16="http://schemas.microsoft.com/office/drawing/2014/main" id="{29108832-C739-B9D5-8FA7-EEE051F1306C}"/>
              </a:ext>
            </a:extLst>
          </p:cNvPr>
          <p:cNvSpPr txBox="1"/>
          <p:nvPr/>
        </p:nvSpPr>
        <p:spPr>
          <a:xfrm>
            <a:off x="979356" y="2223726"/>
            <a:ext cx="9234041" cy="1384995"/>
          </a:xfrm>
          <a:prstGeom prst="rect">
            <a:avLst/>
          </a:prstGeom>
          <a:noFill/>
        </p:spPr>
        <p:txBody>
          <a:bodyPr wrap="square">
            <a:spAutoFit/>
          </a:bodyPr>
          <a:lstStyle/>
          <a:p>
            <a:r>
              <a:rPr kumimoji="0" lang="en-US" sz="4800" b="0" i="0" u="none" strike="noStrike" kern="1200" cap="none" spc="0" normalizeH="0" baseline="0" noProof="0" dirty="0">
                <a:ln>
                  <a:noFill/>
                </a:ln>
                <a:solidFill>
                  <a:sysClr val="windowText" lastClr="000000"/>
                </a:solidFill>
                <a:effectLst/>
                <a:uLnTx/>
                <a:uFillTx/>
                <a:latin typeface="Franklin Gothic Medium Cond" panose="020B0606030402020204" pitchFamily="34" charset="0"/>
                <a:ea typeface="+mj-ea"/>
                <a:cs typeface="+mj-cs"/>
              </a:rPr>
              <a:t>A new building for The Data Mine </a:t>
            </a:r>
            <a:br>
              <a:rPr kumimoji="0" lang="en-US" sz="4800" b="0" i="0" u="none" strike="noStrike" kern="1200" cap="none" spc="0" normalizeH="0" baseline="0" noProof="0" dirty="0">
                <a:ln>
                  <a:noFill/>
                </a:ln>
                <a:solidFill>
                  <a:sysClr val="windowText" lastClr="000000"/>
                </a:solidFill>
                <a:effectLst/>
                <a:uLnTx/>
                <a:uFillTx/>
                <a:latin typeface="Franklin Gothic Medium Cond" panose="020B0606030402020204" pitchFamily="34" charset="0"/>
                <a:ea typeface="+mj-ea"/>
                <a:cs typeface="+mj-cs"/>
              </a:rPr>
            </a:br>
            <a:endParaRPr lang="en-US" sz="3600" dirty="0"/>
          </a:p>
        </p:txBody>
      </p:sp>
    </p:spTree>
    <p:extLst>
      <p:ext uri="{BB962C8B-B14F-4D97-AF65-F5344CB8AC3E}">
        <p14:creationId xmlns:p14="http://schemas.microsoft.com/office/powerpoint/2010/main" val="257661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CA2D7D9-A500-2A47-82CF-D26789F6ABE1}"/>
              </a:ext>
            </a:extLst>
          </p:cNvPr>
          <p:cNvSpPr>
            <a:spLocks noGrp="1"/>
          </p:cNvSpPr>
          <p:nvPr>
            <p:ph type="ctrTitle"/>
          </p:nvPr>
        </p:nvSpPr>
        <p:spPr/>
        <p:txBody>
          <a:bodyPr/>
          <a:lstStyle/>
          <a:p>
            <a:r>
              <a:rPr lang="en-US" dirty="0"/>
              <a:t>Instructions</a:t>
            </a:r>
          </a:p>
        </p:txBody>
      </p:sp>
      <p:sp>
        <p:nvSpPr>
          <p:cNvPr id="4" name="Body Text">
            <a:extLst>
              <a:ext uri="{FF2B5EF4-FFF2-40B4-BE49-F238E27FC236}">
                <a16:creationId xmlns:a16="http://schemas.microsoft.com/office/drawing/2014/main" id="{DC145CD9-0814-B14D-AC00-49E2D2CE7D96}"/>
              </a:ext>
            </a:extLst>
          </p:cNvPr>
          <p:cNvSpPr>
            <a:spLocks noGrp="1"/>
          </p:cNvSpPr>
          <p:nvPr>
            <p:ph type="body" sz="quarter" idx="14"/>
          </p:nvPr>
        </p:nvSpPr>
        <p:spPr>
          <a:xfrm>
            <a:off x="605642" y="1377538"/>
            <a:ext cx="10913424" cy="4548250"/>
          </a:xfrm>
        </p:spPr>
        <p:txBody>
          <a:bodyPr>
            <a:normAutofit/>
          </a:bodyPr>
          <a:lstStyle/>
          <a:p>
            <a:pPr lvl="0"/>
            <a:endParaRPr lang="en-US" sz="2800" dirty="0"/>
          </a:p>
          <a:p>
            <a:pPr marL="0" lvl="0" indent="0">
              <a:buNone/>
            </a:pPr>
            <a:r>
              <a:rPr lang="en-US" sz="3900" dirty="0">
                <a:latin typeface="+mj-lt"/>
              </a:rPr>
              <a:t>Roles</a:t>
            </a:r>
          </a:p>
          <a:p>
            <a:pPr lvl="0">
              <a:lnSpc>
                <a:spcPct val="110000"/>
              </a:lnSpc>
              <a:spcAft>
                <a:spcPts val="1200"/>
              </a:spcAft>
            </a:pPr>
            <a:r>
              <a:rPr lang="en-US" sz="2800" dirty="0"/>
              <a:t>A Data Mine or MEM staff member will act as the product owner for this activity (we will be walking around).  </a:t>
            </a:r>
          </a:p>
          <a:p>
            <a:pPr>
              <a:lnSpc>
                <a:spcPct val="110000"/>
              </a:lnSpc>
              <a:spcAft>
                <a:spcPts val="1200"/>
              </a:spcAft>
            </a:pPr>
            <a:r>
              <a:rPr lang="en-US" sz="2800" dirty="0"/>
              <a:t>All team members will act as developers.</a:t>
            </a:r>
          </a:p>
          <a:p>
            <a:pPr lvl="0"/>
            <a:endParaRPr lang="en-US" sz="2800" dirty="0"/>
          </a:p>
        </p:txBody>
      </p:sp>
      <p:sp>
        <p:nvSpPr>
          <p:cNvPr id="6" name="Date">
            <a:extLst>
              <a:ext uri="{FF2B5EF4-FFF2-40B4-BE49-F238E27FC236}">
                <a16:creationId xmlns:a16="http://schemas.microsoft.com/office/drawing/2014/main" id="{21019431-9B99-5843-A9A4-0370000D39E2}"/>
              </a:ext>
            </a:extLst>
          </p:cNvPr>
          <p:cNvSpPr>
            <a:spLocks noGrp="1"/>
          </p:cNvSpPr>
          <p:nvPr>
            <p:ph type="dt" sz="half" idx="2"/>
          </p:nvPr>
        </p:nvSpPr>
        <p:spPr/>
        <p:txBody>
          <a:bodyPr/>
          <a:lstStyle/>
          <a:p>
            <a:fld id="{E0C8DACD-4E35-4E4C-AC75-C3DE50F04E7E}" type="datetime1">
              <a:rPr lang="en-US" smtClean="0"/>
              <a:pPr/>
              <a:t>8/17/26</a:t>
            </a:fld>
            <a:endParaRPr lang="en-US" dirty="0"/>
          </a:p>
        </p:txBody>
      </p:sp>
      <p:sp>
        <p:nvSpPr>
          <p:cNvPr id="7" name="Slide Number">
            <a:extLst>
              <a:ext uri="{FF2B5EF4-FFF2-40B4-BE49-F238E27FC236}">
                <a16:creationId xmlns:a16="http://schemas.microsoft.com/office/drawing/2014/main" id="{361A6DE1-C3E0-2141-AA64-FC84F35B0648}"/>
              </a:ext>
            </a:extLst>
          </p:cNvPr>
          <p:cNvSpPr>
            <a:spLocks noGrp="1"/>
          </p:cNvSpPr>
          <p:nvPr>
            <p:ph type="sldNum" sz="quarter" idx="4"/>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495696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CA2D7D9-A500-2A47-82CF-D26789F6ABE1}"/>
              </a:ext>
            </a:extLst>
          </p:cNvPr>
          <p:cNvSpPr>
            <a:spLocks noGrp="1"/>
          </p:cNvSpPr>
          <p:nvPr>
            <p:ph type="ctrTitle"/>
          </p:nvPr>
        </p:nvSpPr>
        <p:spPr/>
        <p:txBody>
          <a:bodyPr/>
          <a:lstStyle/>
          <a:p>
            <a:r>
              <a:rPr lang="en-US" dirty="0"/>
              <a:t>Instructions</a:t>
            </a:r>
          </a:p>
        </p:txBody>
      </p:sp>
      <p:sp>
        <p:nvSpPr>
          <p:cNvPr id="4" name="Body Text">
            <a:extLst>
              <a:ext uri="{FF2B5EF4-FFF2-40B4-BE49-F238E27FC236}">
                <a16:creationId xmlns:a16="http://schemas.microsoft.com/office/drawing/2014/main" id="{DC145CD9-0814-B14D-AC00-49E2D2CE7D96}"/>
              </a:ext>
            </a:extLst>
          </p:cNvPr>
          <p:cNvSpPr>
            <a:spLocks noGrp="1"/>
          </p:cNvSpPr>
          <p:nvPr>
            <p:ph type="body" sz="quarter" idx="14"/>
          </p:nvPr>
        </p:nvSpPr>
        <p:spPr>
          <a:xfrm>
            <a:off x="605642" y="1389412"/>
            <a:ext cx="10913424" cy="4536375"/>
          </a:xfrm>
        </p:spPr>
        <p:txBody>
          <a:bodyPr>
            <a:normAutofit/>
          </a:bodyPr>
          <a:lstStyle/>
          <a:p>
            <a:pPr marL="0" indent="0">
              <a:buNone/>
            </a:pPr>
            <a:r>
              <a:rPr lang="en-US" sz="2400" dirty="0"/>
              <a:t>Product owners have developed a backlog of tasks. Your team will be responsible for allocating work in an Agile methodology and executing the tasks.</a:t>
            </a:r>
          </a:p>
          <a:p>
            <a:pPr marL="0" lvl="0" indent="0">
              <a:buNone/>
            </a:pPr>
            <a:endParaRPr lang="en-US" dirty="0"/>
          </a:p>
          <a:p>
            <a:pPr marL="0" lvl="0" indent="0">
              <a:buNone/>
            </a:pPr>
            <a:r>
              <a:rPr lang="en-US" sz="2800" dirty="0">
                <a:latin typeface="+mj-lt"/>
              </a:rPr>
              <a:t>However, there are a few caveats…</a:t>
            </a:r>
          </a:p>
          <a:p>
            <a:pPr>
              <a:lnSpc>
                <a:spcPct val="130000"/>
              </a:lnSpc>
            </a:pPr>
            <a:r>
              <a:rPr lang="en-US" dirty="0"/>
              <a:t>Your team will need to identify and deliver the minimum viable product (MVP)</a:t>
            </a:r>
          </a:p>
          <a:p>
            <a:pPr>
              <a:lnSpc>
                <a:spcPct val="130000"/>
              </a:lnSpc>
            </a:pPr>
            <a:r>
              <a:rPr lang="en-US" dirty="0"/>
              <a:t>You will need to work with the product owner to clarify requests tasks in the backlog.</a:t>
            </a:r>
          </a:p>
          <a:p>
            <a:pPr lvl="0">
              <a:lnSpc>
                <a:spcPct val="130000"/>
              </a:lnSpc>
            </a:pPr>
            <a:r>
              <a:rPr lang="en-US" dirty="0"/>
              <a:t>You may not be able to complete all of the tasks on the backlog with the time and materials provided (you will need to negotiate with the PO!). </a:t>
            </a:r>
          </a:p>
          <a:p>
            <a:pPr lvl="0">
              <a:lnSpc>
                <a:spcPct val="130000"/>
              </a:lnSpc>
            </a:pPr>
            <a:r>
              <a:rPr lang="en-US" dirty="0"/>
              <a:t>Remember, product owners can also change their minds – you may need to be flexible if you build something and they don’t like it.</a:t>
            </a:r>
          </a:p>
          <a:p>
            <a:pPr lvl="0">
              <a:lnSpc>
                <a:spcPct val="130000"/>
              </a:lnSpc>
            </a:pPr>
            <a:r>
              <a:rPr lang="en-US" dirty="0"/>
              <a:t>Creativity is encouraged! A Lego can represent anything as long as it is explained (and communication is a key part of Agile!)</a:t>
            </a:r>
          </a:p>
          <a:p>
            <a:pPr lvl="0"/>
            <a:endParaRPr lang="en-US" dirty="0"/>
          </a:p>
        </p:txBody>
      </p:sp>
      <p:sp>
        <p:nvSpPr>
          <p:cNvPr id="6" name="Date">
            <a:extLst>
              <a:ext uri="{FF2B5EF4-FFF2-40B4-BE49-F238E27FC236}">
                <a16:creationId xmlns:a16="http://schemas.microsoft.com/office/drawing/2014/main" id="{21019431-9B99-5843-A9A4-0370000D39E2}"/>
              </a:ext>
            </a:extLst>
          </p:cNvPr>
          <p:cNvSpPr>
            <a:spLocks noGrp="1"/>
          </p:cNvSpPr>
          <p:nvPr>
            <p:ph type="dt" sz="half" idx="2"/>
          </p:nvPr>
        </p:nvSpPr>
        <p:spPr/>
        <p:txBody>
          <a:bodyPr/>
          <a:lstStyle/>
          <a:p>
            <a:fld id="{E0C8DACD-4E35-4E4C-AC75-C3DE50F04E7E}" type="datetime1">
              <a:rPr lang="en-US" smtClean="0"/>
              <a:pPr/>
              <a:t>8/17/26</a:t>
            </a:fld>
            <a:endParaRPr lang="en-US" dirty="0"/>
          </a:p>
        </p:txBody>
      </p:sp>
      <p:sp>
        <p:nvSpPr>
          <p:cNvPr id="7" name="Slide Number">
            <a:extLst>
              <a:ext uri="{FF2B5EF4-FFF2-40B4-BE49-F238E27FC236}">
                <a16:creationId xmlns:a16="http://schemas.microsoft.com/office/drawing/2014/main" id="{361A6DE1-C3E0-2141-AA64-FC84F35B0648}"/>
              </a:ext>
            </a:extLst>
          </p:cNvPr>
          <p:cNvSpPr>
            <a:spLocks noGrp="1"/>
          </p:cNvSpPr>
          <p:nvPr>
            <p:ph type="sldNum" sz="quarter" idx="4"/>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1042272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CA2D7D9-A500-2A47-82CF-D26789F6ABE1}"/>
              </a:ext>
            </a:extLst>
          </p:cNvPr>
          <p:cNvSpPr>
            <a:spLocks noGrp="1"/>
          </p:cNvSpPr>
          <p:nvPr>
            <p:ph type="ctrTitle"/>
          </p:nvPr>
        </p:nvSpPr>
        <p:spPr/>
        <p:txBody>
          <a:bodyPr/>
          <a:lstStyle/>
          <a:p>
            <a:r>
              <a:rPr lang="en-US" dirty="0"/>
              <a:t>Sprint Timeline</a:t>
            </a:r>
          </a:p>
        </p:txBody>
      </p:sp>
      <p:sp>
        <p:nvSpPr>
          <p:cNvPr id="4" name="Body Text">
            <a:extLst>
              <a:ext uri="{FF2B5EF4-FFF2-40B4-BE49-F238E27FC236}">
                <a16:creationId xmlns:a16="http://schemas.microsoft.com/office/drawing/2014/main" id="{DC145CD9-0814-B14D-AC00-49E2D2CE7D96}"/>
              </a:ext>
            </a:extLst>
          </p:cNvPr>
          <p:cNvSpPr>
            <a:spLocks noGrp="1"/>
          </p:cNvSpPr>
          <p:nvPr>
            <p:ph type="body" sz="quarter" idx="14"/>
          </p:nvPr>
        </p:nvSpPr>
        <p:spPr>
          <a:xfrm>
            <a:off x="605642" y="1116282"/>
            <a:ext cx="10913424" cy="4809506"/>
          </a:xfrm>
        </p:spPr>
        <p:txBody>
          <a:bodyPr>
            <a:normAutofit/>
          </a:bodyPr>
          <a:lstStyle/>
          <a:p>
            <a:pPr lvl="0">
              <a:lnSpc>
                <a:spcPct val="120000"/>
              </a:lnSpc>
              <a:spcAft>
                <a:spcPts val="1200"/>
              </a:spcAft>
            </a:pPr>
            <a:r>
              <a:rPr lang="en-US" dirty="0"/>
              <a:t>Sprint Planning (4 minutes)  </a:t>
            </a:r>
          </a:p>
          <a:p>
            <a:pPr lvl="1">
              <a:lnSpc>
                <a:spcPct val="120000"/>
              </a:lnSpc>
              <a:spcBef>
                <a:spcPts val="0"/>
              </a:spcBef>
              <a:spcAft>
                <a:spcPts val="1200"/>
              </a:spcAft>
            </a:pPr>
            <a:r>
              <a:rPr lang="en-US" dirty="0"/>
              <a:t>Choosing what tasks to do during the sprint, estimating time/distributing work, and working with the product owner to clarify tasks.</a:t>
            </a:r>
          </a:p>
          <a:p>
            <a:pPr lvl="0">
              <a:lnSpc>
                <a:spcPct val="120000"/>
              </a:lnSpc>
              <a:spcAft>
                <a:spcPts val="1200"/>
              </a:spcAft>
            </a:pPr>
            <a:r>
              <a:rPr lang="en-US" dirty="0"/>
              <a:t>Sprint (8 minutes) </a:t>
            </a:r>
          </a:p>
          <a:p>
            <a:pPr lvl="1">
              <a:lnSpc>
                <a:spcPct val="120000"/>
              </a:lnSpc>
              <a:spcBef>
                <a:spcPts val="0"/>
              </a:spcBef>
              <a:spcAft>
                <a:spcPts val="1200"/>
              </a:spcAft>
            </a:pPr>
            <a:r>
              <a:rPr lang="en-US" dirty="0"/>
              <a:t>Work time in which the product owner is not actively working with you.</a:t>
            </a:r>
          </a:p>
          <a:p>
            <a:pPr lvl="0">
              <a:lnSpc>
                <a:spcPct val="120000"/>
              </a:lnSpc>
              <a:spcAft>
                <a:spcPts val="1200"/>
              </a:spcAft>
            </a:pPr>
            <a:r>
              <a:rPr lang="en-US" dirty="0"/>
              <a:t>Sprint Review (3 minutes)</a:t>
            </a:r>
          </a:p>
          <a:p>
            <a:pPr lvl="1">
              <a:lnSpc>
                <a:spcPct val="120000"/>
              </a:lnSpc>
              <a:spcBef>
                <a:spcPts val="0"/>
              </a:spcBef>
              <a:spcAft>
                <a:spcPts val="1200"/>
              </a:spcAft>
            </a:pPr>
            <a:r>
              <a:rPr lang="en-US" dirty="0"/>
              <a:t>Present work from the sprint to the product owner and get feedback.</a:t>
            </a:r>
          </a:p>
          <a:p>
            <a:pPr lvl="0">
              <a:lnSpc>
                <a:spcPct val="120000"/>
              </a:lnSpc>
              <a:spcAft>
                <a:spcPts val="1200"/>
              </a:spcAft>
            </a:pPr>
            <a:r>
              <a:rPr lang="en-US" dirty="0"/>
              <a:t>Retrospective (2 minutes)</a:t>
            </a:r>
          </a:p>
          <a:p>
            <a:pPr lvl="1">
              <a:lnSpc>
                <a:spcPct val="120000"/>
              </a:lnSpc>
              <a:spcBef>
                <a:spcPts val="0"/>
              </a:spcBef>
              <a:spcAft>
                <a:spcPts val="1200"/>
              </a:spcAft>
            </a:pPr>
            <a:r>
              <a:rPr lang="en-US" dirty="0"/>
              <a:t>Discuss what went right, what went wrong, and how you can fix issues in the next sprint (e.g., how you collaborate, estimating time required for tasks, etc.)</a:t>
            </a:r>
          </a:p>
          <a:p>
            <a:pPr lvl="0">
              <a:lnSpc>
                <a:spcPct val="120000"/>
              </a:lnSpc>
              <a:spcAft>
                <a:spcPts val="1200"/>
              </a:spcAft>
            </a:pPr>
            <a:r>
              <a:rPr lang="en-US" dirty="0"/>
              <a:t> Repeat! (3x)</a:t>
            </a:r>
          </a:p>
          <a:p>
            <a:pPr lvl="0"/>
            <a:endParaRPr lang="en-US" dirty="0"/>
          </a:p>
        </p:txBody>
      </p:sp>
      <p:sp>
        <p:nvSpPr>
          <p:cNvPr id="6" name="Date">
            <a:extLst>
              <a:ext uri="{FF2B5EF4-FFF2-40B4-BE49-F238E27FC236}">
                <a16:creationId xmlns:a16="http://schemas.microsoft.com/office/drawing/2014/main" id="{21019431-9B99-5843-A9A4-0370000D39E2}"/>
              </a:ext>
            </a:extLst>
          </p:cNvPr>
          <p:cNvSpPr>
            <a:spLocks noGrp="1"/>
          </p:cNvSpPr>
          <p:nvPr>
            <p:ph type="dt" sz="half" idx="2"/>
          </p:nvPr>
        </p:nvSpPr>
        <p:spPr/>
        <p:txBody>
          <a:bodyPr/>
          <a:lstStyle/>
          <a:p>
            <a:fld id="{E0C8DACD-4E35-4E4C-AC75-C3DE50F04E7E}" type="datetime1">
              <a:rPr lang="en-US" smtClean="0"/>
              <a:pPr/>
              <a:t>8/17/26</a:t>
            </a:fld>
            <a:endParaRPr lang="en-US" dirty="0"/>
          </a:p>
        </p:txBody>
      </p:sp>
      <p:sp>
        <p:nvSpPr>
          <p:cNvPr id="7" name="Slide Number">
            <a:extLst>
              <a:ext uri="{FF2B5EF4-FFF2-40B4-BE49-F238E27FC236}">
                <a16:creationId xmlns:a16="http://schemas.microsoft.com/office/drawing/2014/main" id="{361A6DE1-C3E0-2141-AA64-FC84F35B0648}"/>
              </a:ext>
            </a:extLst>
          </p:cNvPr>
          <p:cNvSpPr>
            <a:spLocks noGrp="1"/>
          </p:cNvSpPr>
          <p:nvPr>
            <p:ph type="sldNum" sz="quarter" idx="4"/>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314975692"/>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PurdueBrand">
      <a:majorFont>
        <a:latin typeface="Acumin Pro ExtraCondensed Smbd"/>
        <a:ea typeface=""/>
        <a:cs typeface=""/>
      </a:majorFont>
      <a:minorFont>
        <a:latin typeface="Acumin Pro"/>
        <a:ea typeface=""/>
        <a:cs typeface=""/>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E-Template_Gold_StandardScreen" id="{734A2872-EFDC-7545-8F60-D0C83ACC891D}" vid="{DA23825E-620D-D541-B6FB-A9133ED505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Purdue1</Template>
  <TotalTime>4586</TotalTime>
  <Words>930</Words>
  <Application>Microsoft Macintosh PowerPoint</Application>
  <PresentationFormat>Widescreen</PresentationFormat>
  <Paragraphs>96</Paragraphs>
  <Slides>10</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10</vt:i4>
      </vt:variant>
    </vt:vector>
  </HeadingPairs>
  <TitlesOfParts>
    <vt:vector size="23" baseType="lpstr">
      <vt:lpstr>Arial</vt:lpstr>
      <vt:lpstr>Acumin Pro ExtraCondensed</vt:lpstr>
      <vt:lpstr>Acumin Pro Medium</vt:lpstr>
      <vt:lpstr>Acumin Pro ExtraCondensed Smbd</vt:lpstr>
      <vt:lpstr>Franklin Gothic Medium Cond</vt:lpstr>
      <vt:lpstr>Aptos</vt:lpstr>
      <vt:lpstr>Acumin Pro</vt:lpstr>
      <vt:lpstr>Wingdings</vt:lpstr>
      <vt:lpstr>United Sans Cd Md</vt:lpstr>
      <vt:lpstr>Acumin Pro SemiCondensed</vt:lpstr>
      <vt:lpstr>United Sans Reg Medium</vt:lpstr>
      <vt:lpstr>Acumin Pro Semibold</vt:lpstr>
      <vt:lpstr>Purdue1</vt:lpstr>
      <vt:lpstr>DATA MINE AGILE TRaining</vt:lpstr>
      <vt:lpstr>What is Agile?</vt:lpstr>
      <vt:lpstr>Roles in Agile</vt:lpstr>
      <vt:lpstr>Sprint Cycles</vt:lpstr>
      <vt:lpstr>Agile Basics</vt:lpstr>
      <vt:lpstr>Lego agile activity</vt:lpstr>
      <vt:lpstr>Task: Design and build</vt:lpstr>
      <vt:lpstr>Instructions</vt:lpstr>
      <vt:lpstr>Instructions</vt:lpstr>
      <vt:lpstr>Sprint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Margaret Ann Betz</dc:creator>
  <cp:lastModifiedBy>Katie Sanders</cp:lastModifiedBy>
  <cp:revision>11</cp:revision>
  <dcterms:created xsi:type="dcterms:W3CDTF">2020-09-30T18:58:52Z</dcterms:created>
  <dcterms:modified xsi:type="dcterms:W3CDTF">2026-08-17T14:43:01Z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2023-08-15T16:45:07Z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76f47780-7f73-4aa2-b74f-b5af55801a56</vt:lpwstr>
  </property>
  <property fmtid="{D5CDD505-2E9C-101B-9397-08002B2CF9AE}" pid="8" name="MSIP_Label_4044bd30-2ed7-4c9d-9d12-46200872a97b_ContentBits">
    <vt:lpwstr>0</vt:lpwstr>
  </property>
</Properties>
</file>